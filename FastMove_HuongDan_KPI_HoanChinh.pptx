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6702435fbf4466" /><Relationship Type="http://schemas.openxmlformats.org/officeDocument/2006/relationships/extended-properties" Target="/docProps/app.xml" Id="R100c2ae5c4d044b7" /><Relationship Type="http://schemas.openxmlformats.org/officeDocument/2006/relationships/officeDocument" Target="/ppt/presentation.xml" Id="Rd2c4473bdaf94de4" /></Relationships>
</file>

<file path=ppt/presentation.xml><?xml version="1.0" encoding="utf-8"?>
<p:presentation xmlns:p="http://schemas.openxmlformats.org/presentationml/2006/main">
  <p:sldMasterIdLst>
    <p:sldMasterId xmlns:r="http://schemas.openxmlformats.org/officeDocument/2006/relationships" id="2147483648" r:id="R0ab7e0895e384076"/>
  </p:sldMasterIdLst>
  <p:notesMasterIdLst>
    <p:notesMasterId xmlns:r="http://schemas.openxmlformats.org/officeDocument/2006/relationships" r:id="Rc1873da696b54e84"/>
  </p:notesMasterIdLst>
  <p:sldIdLst>
    <p:sldId xmlns:r="http://schemas.openxmlformats.org/officeDocument/2006/relationships" id="256" r:id="R11d7e2d4db944185"/>
    <p:sldId xmlns:r="http://schemas.openxmlformats.org/officeDocument/2006/relationships" id="257" r:id="Rc3f63d1f16e441ab"/>
    <p:sldId xmlns:r="http://schemas.openxmlformats.org/officeDocument/2006/relationships" id="258" r:id="R1ecc5d2f1ae64d43"/>
    <p:sldId xmlns:r="http://schemas.openxmlformats.org/officeDocument/2006/relationships" id="259" r:id="R2d95bf6d498946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dc084b4c3e4ffb" /><Relationship Type="http://schemas.openxmlformats.org/officeDocument/2006/relationships/slideMaster" Target="/ppt/slideMasters/slideMaster1.xml" Id="R0ab7e0895e384076" /><Relationship Type="http://schemas.openxmlformats.org/officeDocument/2006/relationships/notesMaster" Target="/ppt/notesMasters/notesMaster1.xml" Id="Rc1873da696b54e84" /><Relationship Type="http://schemas.openxmlformats.org/officeDocument/2006/relationships/presProps" Target="/ppt/presProps.xml" Id="R1607d811720245b0" /><Relationship Type="http://schemas.openxmlformats.org/officeDocument/2006/relationships/tableStyles" Target="/ppt/tableStyles.xml" Id="R3c21230e84084f9b" /><Relationship Type="http://schemas.openxmlformats.org/officeDocument/2006/relationships/slide" Target="/ppt/slides/slide1.xml" Id="R11d7e2d4db944185" /><Relationship Type="http://schemas.openxmlformats.org/officeDocument/2006/relationships/slide" Target="/ppt/slides/slide2.xml" Id="Rc3f63d1f16e441ab" /><Relationship Type="http://schemas.openxmlformats.org/officeDocument/2006/relationships/slide" Target="/ppt/slides/slide3.xml" Id="R1ecc5d2f1ae64d43" /><Relationship Type="http://schemas.openxmlformats.org/officeDocument/2006/relationships/slide" Target="/ppt/slides/slide4.xml" Id="R2d95bf6d498946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fc537b923444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02c20d5faa46dd" /><Relationship Type="http://schemas.openxmlformats.org/officeDocument/2006/relationships/notesMaster" Target="/ppt/notesMasters/notesMaster1.xml" Id="Re9c3ef0bcfef4e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4ce228e832450b" /><Relationship Type="http://schemas.openxmlformats.org/officeDocument/2006/relationships/notesMaster" Target="/ppt/notesMasters/notesMaster1.xml" Id="Rc1d89a386598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8121992ec84b66" /><Relationship Type="http://schemas.openxmlformats.org/officeDocument/2006/relationships/notesMaster" Target="/ppt/notesMasters/notesMaster1.xml" Id="R4c1cdeceb38543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ad23020d3d4a88" /><Relationship Type="http://schemas.openxmlformats.org/officeDocument/2006/relationships/notesMaster" Target="/ppt/notesMasters/notesMaster1.xml" Id="R7e46ac5fefe847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bài cung cấp con số 16 giờ mỗi ngày. Chưa có số đo sau triển khai nên chưa kết luận thời gian tiết kiệm. Bảng màu xanh và cam là đề xuất cho bài thực hành. VLOOKUP dùng FALSE và cố định vùng tra bằng dấu $. Tham khảo Microsoft Support: https://support.microsoft.com/vi-vn/excel/functions/vlookup-function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4 bullet theo yêu cầu bài tập về Miller’s Law. Mỗi bullet là một hành động trong thao tác nhận đơn. Phần giải thích và các trường hợp ngoại lệ nằm trong quy trình Word. Kho và shipper cùng đối chiếu số kiện trước khi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giả lập từ FastMove_TraCuu_500Don.xlsx. Mỗi tuyến có 125 đơn đã giao, số đúng hẹn lần lượt là 120, 115, 110 và 100. Tổng 445/500 = 89%. Vùng xa có 25 đơn trễ và 100/125 = 80% đúng hẹn. Mục tiêu 95% là giả định đề xuất. 95% - 80% = 15 điểm phần trăm. Biểu đồ là ảnh chụp dữ liệu tại thời điểm tạo, không liên kết động với file Excel. Cập nhật Edit Data khi thay dữ liệu. Điều tra nguyên nhân các đơn trễ trước khi quyết định thay tuyến hoặc bổ sung người.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Cột B dùng =TRIM(CLEAN(SUBSTITUTE(A2,CHAR(160)," "))). Cột C dùng IF kết hợp IFERROR và VLOOKUP. IFERROR bắt nhiều loại lỗi, kể cả #REF!, vì vậy cảnh báo đòi hỏi kiểm tra cả mã và cấu trúc tham chiếu. Không thay lỗi bằng số 0. TRIM và CLEAN không loại bỏ mọi ký tự Unicode. Mã có @, zero width hoặc không có trong bảng phải được xác minh, không tự đoán. 10 ca thử ở sheet KiemThu bao gồm mã chuẩn, khoảng trắng, CHAR(160), tab, @, mã thiếu, ô trống, zero width, mã giữa và cuối bảng. Microsoft VLOOKUP troubleshooting: https://download.microsoft.com/download/0/2/0/0208812a-135f-4e7b-ba9a-5c9518fec5a6/AF102038056_vi-vn_xl_qrc_vlookup_troubleshooter.pdf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3b52c212ff43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c4e14ff09e43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e5d4fcad5440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d30379fa1b48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3173259b0642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ed920b0ee540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6377D8-1D9B-43B3-8B79-996E0942D2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6C0195-BBB8-4F26-BA97-A8D361E11C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771B4B7-718A-4BC1-9D2F-4EBC372DCA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AEFA45-AC23-4C56-A60F-5A62A995C4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028780-E840-49CE-8690-62FE3AAF98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4B5E3D-1169-4636-9ED5-20DBB0002A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04443B-6A84-4D56-8486-D8A992113C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0A42EE-D60F-4180-A49C-4E291B4C92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5A9263-4F7E-460F-BBBB-DA3ADE1CCC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7C607C-D08F-4C5C-942D-216BBF3422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b4597d96f34173" /><Relationship Type="http://schemas.openxmlformats.org/officeDocument/2006/relationships/slideLayout" Target="/ppt/slideLayouts/slideLayout1.xml" Id="Rca9c50cafdb14a7c" /><Relationship Type="http://schemas.openxmlformats.org/officeDocument/2006/relationships/slideLayout" Target="/ppt/slideLayouts/slideLayout2.xml" Id="R780f3b5b27384c37" /><Relationship Type="http://schemas.openxmlformats.org/officeDocument/2006/relationships/slideLayout" Target="/ppt/slideLayouts/slideLayout3.xml" Id="R7746ed3311d74744" /><Relationship Type="http://schemas.openxmlformats.org/officeDocument/2006/relationships/slideLayout" Target="/ppt/slideLayouts/slideLayout4.xml" Id="R1ef07f9a8cfa41fa" /><Relationship Type="http://schemas.openxmlformats.org/officeDocument/2006/relationships/slideLayout" Target="/ppt/slideLayouts/slideLayout5.xml" Id="Rfd9ddf6821ab4e82" /><Relationship Type="http://schemas.openxmlformats.org/officeDocument/2006/relationships/slideLayout" Target="/ppt/slideLayouts/slideLayout6.xml" Id="Rb644217c37fd45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9c50cafdb14a7c"/>
    <p:sldLayoutId xmlns:r="http://schemas.openxmlformats.org/officeDocument/2006/relationships" id="2147483650" r:id="R780f3b5b27384c37"/>
    <p:sldLayoutId xmlns:r="http://schemas.openxmlformats.org/officeDocument/2006/relationships" id="2147483651" r:id="R7746ed3311d74744"/>
    <p:sldLayoutId xmlns:r="http://schemas.openxmlformats.org/officeDocument/2006/relationships" id="2147483652" r:id="R1ef07f9a8cfa41fa"/>
    <p:sldLayoutId xmlns:r="http://schemas.openxmlformats.org/officeDocument/2006/relationships" id="2147483653" r:id="Rfd9ddf6821ab4e82"/>
    <p:sldLayoutId xmlns:r="http://schemas.openxmlformats.org/officeDocument/2006/relationships" id="2147483654" r:id="Rb644217c37fd45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26e797da984ad5" /><Relationship Type="http://schemas.openxmlformats.org/officeDocument/2006/relationships/notesSlide" Target="/ppt/notesSlides/notesSlide1.xml" Id="Rfd74e37cd6d842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402f1e4fd164829" /><Relationship Type="http://schemas.openxmlformats.org/officeDocument/2006/relationships/notesSlide" Target="/ppt/notesSlides/notesSlide2.xml" Id="Rc06dcb9c35864a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677344d46c346e5" /><Relationship Type="http://schemas.openxmlformats.org/officeDocument/2006/relationships/chart" Target="/ppt/slides/charts/chart1.xml" Id="Rbfb10d3e78844552" /><Relationship Type="http://schemas.openxmlformats.org/officeDocument/2006/relationships/notesSlide" Target="/ppt/notesSlides/notesSlide3.xml" Id="R794c1217a5fa49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d526c57eb04235" /><Relationship Type="http://schemas.openxmlformats.org/officeDocument/2006/relationships/notesSlide" Target="/ppt/notesSlides/notesSlide4.xml" Id="Rb64bf08f5e8c48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Tỷ lệ đúng hẹn</c:v>
          </c:tx>
          <c:spPr>
            <a:solidFill xmlns:a="http://schemas.openxmlformats.org/drawingml/2006/main">
              <a:srgbClr val="AEBAC5"/>
            </a:solidFill>
            <a:ln xmlns:a="http://schemas.openxmlformats.org/drawingml/2006/main" w="0">
              <a:noFill/>
              <a:prstDash val="solid"/>
            </a:ln>
          </c:spPr>
          <c:invertIfNegative val="0"/>
          <c:dPt>
            <c:idx val="3"/>
            <c:invertIfNegative val="0"/>
            <c:spPr>
              <a:solidFill xmlns:a="http://schemas.openxmlformats.org/drawingml/2006/main">
                <a:srgbClr val="E66B26"/>
              </a:solidFill>
            </c:spPr>
          </c:dPt>
          <c:cat>
            <c:strRef>
              <c:f>'Chart Data'!$A$2:$A$5</c:f>
              <c:strCache>
                <c:ptCount val="4"/>
                <c:pt idx="0">
                  <c:v>Nội thành</c:v>
                </c:pt>
                <c:pt idx="1">
                  <c:v>Ngoại thành</c:v>
                </c:pt>
                <c:pt idx="2">
                  <c:v>Liên tỉnh</c:v>
                </c:pt>
                <c:pt idx="3">
                  <c:v>Vùng xa</c:v>
                </c:pt>
              </c:strCache>
            </c:strRef>
          </c:cat>
          <c:val>
            <c:numRef>
              <c:f>'Chart Data'!$B$2:$B$5</c:f>
              <c:numCache>
                <c:formatCode>0%</c:formatCode>
                <c:ptCount val="4"/>
                <c:pt idx="0">
                  <c:v>0.96</c:v>
                </c:pt>
                <c:pt idx="1">
                  <c:v>0.92</c:v>
                </c:pt>
                <c:pt idx="2">
                  <c:v>0.88</c:v>
                </c:pt>
                <c:pt idx="3">
                  <c:v>0.8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233444"/>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233444"/>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E6EBEF"/>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6778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2A553BDB-830B-40A7-AAD4-F997999BFB26}"/>
              </a:ext>
            </a:extLst>
          </p:cNvPr>
          <p:cNvSpPr>
            <a:spLocks xmlns:a="http://schemas.openxmlformats.org/drawingml/2006/main" noGrp="1"/>
          </p:cNvSpPr>
          <p:nvPr/>
        </p:nvSpPr>
        <p:spPr>
          <a:xfrm xmlns:a="http://schemas.openxmlformats.org/drawingml/2006/main">
            <a:off x="685800" y="3619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1">
                <a:solidFill>
                  <a:srgbClr val="123D63"/>
                </a:solidFill>
                <a:latin typeface="Arial"/>
                <a:ea typeface="Arial"/>
                <a:cs typeface="Arial"/>
              </a:defRPr>
            </a:defPPr>
            <a:lvl1pPr>
              <a:defRPr sz="1650" b="1">
                <a:solidFill>
                  <a:srgbClr val="123D63"/>
                </a:solidFill>
                <a:latin typeface="Arial"/>
                <a:ea typeface="Arial"/>
                <a:cs typeface="Arial"/>
              </a:defRPr>
            </a:lvl1pPr>
            <a:lvl2pPr>
              <a:defRPr sz="1650" b="1">
                <a:solidFill>
                  <a:srgbClr val="123D63"/>
                </a:solidFill>
                <a:latin typeface="Arial"/>
                <a:ea typeface="Arial"/>
                <a:cs typeface="Arial"/>
              </a:defRPr>
            </a:lvl2pPr>
            <a:lvl3pPr>
              <a:defRPr sz="1650" b="1">
                <a:solidFill>
                  <a:srgbClr val="123D63"/>
                </a:solidFill>
                <a:latin typeface="Arial"/>
                <a:ea typeface="Arial"/>
                <a:cs typeface="Arial"/>
              </a:defRPr>
            </a:lvl3pPr>
            <a:lvl4pPr>
              <a:defRPr sz="1650" b="1">
                <a:solidFill>
                  <a:srgbClr val="123D63"/>
                </a:solidFill>
                <a:latin typeface="Arial"/>
                <a:ea typeface="Arial"/>
                <a:cs typeface="Arial"/>
              </a:defRPr>
            </a:lvl4pPr>
            <a:lvl5pPr>
              <a:defRPr sz="1650" b="1">
                <a:solidFill>
                  <a:srgbClr val="123D63"/>
                </a:solidFill>
                <a:latin typeface="Arial"/>
                <a:ea typeface="Arial"/>
                <a:cs typeface="Arial"/>
              </a:defRPr>
            </a:lvl5pPr>
            <a:lvl6pPr>
              <a:defRPr sz="1650" b="1">
                <a:solidFill>
                  <a:srgbClr val="123D63"/>
                </a:solidFill>
                <a:latin typeface="Arial"/>
                <a:ea typeface="Arial"/>
                <a:cs typeface="Arial"/>
              </a:defRPr>
            </a:lvl6pPr>
            <a:lvl7pPr>
              <a:defRPr sz="1650" b="1">
                <a:solidFill>
                  <a:srgbClr val="123D63"/>
                </a:solidFill>
                <a:latin typeface="Arial"/>
                <a:ea typeface="Arial"/>
                <a:cs typeface="Arial"/>
              </a:defRPr>
            </a:lvl7pPr>
            <a:lvl8pPr>
              <a:defRPr sz="1650" b="1">
                <a:solidFill>
                  <a:srgbClr val="123D63"/>
                </a:solidFill>
                <a:latin typeface="Arial"/>
                <a:ea typeface="Arial"/>
                <a:cs typeface="Arial"/>
              </a:defRPr>
            </a:lvl8pPr>
            <a:lvl9pPr>
              <a:defRPr sz="1650" b="1">
                <a:solidFill>
                  <a:srgbClr val="123D63"/>
                </a:solidFill>
                <a:latin typeface="Arial"/>
                <a:ea typeface="Arial"/>
                <a:cs typeface="Arial"/>
              </a:defRPr>
            </a:lvl9pPr>
          </a:lstStyle>
          <a:p xmlns:a="http://schemas.openxmlformats.org/drawingml/2006/main">
            <a:pPr>
              <a:defRPr sz="1650" b="1">
                <a:solidFill>
                  <a:srgbClr val="123D63"/>
                </a:solidFill>
                <a:latin typeface="Arial"/>
                <a:ea typeface="Arial"/>
                <a:cs typeface="Arial"/>
              </a:defRPr>
            </a:pPr>
            <a:r>
              <a:rPr sz="1650" b="1">
                <a:solidFill>
                  <a:srgbClr val="123D63"/>
                </a:solidFill>
                <a:latin typeface="Arial"/>
                <a:ea typeface="Arial"/>
                <a:cs typeface="Arial"/>
              </a:rPr>
              <a:t>FastMove</a:t>
            </a:r>
          </a:p>
        </p:txBody>
      </p:sp>
      <p:sp>
        <p:nvSpPr>
          <p:cNvPr id="2" name="title">
            <a:extLst xmlns:a="http://schemas.openxmlformats.org/drawingml/2006/main">
              <a:ext uri="{FF2B5EF4-FFF2-40B4-BE49-F238E27FC236}">
                <a16:creationId xmlns:a16="http://schemas.microsoft.com/office/drawing/2014/main" id="{5848A747-1603-462D-B65E-B1AB28B38F38}"/>
              </a:ext>
            </a:extLst>
          </p:cNvPr>
          <p:cNvSpPr>
            <a:spLocks xmlns:a="http://schemas.openxmlformats.org/drawingml/2006/main" noGrp="1"/>
          </p:cNvSpPr>
          <p:nvPr/>
        </p:nvSpPr>
        <p:spPr>
          <a:xfrm xmlns:a="http://schemas.openxmlformats.org/drawingml/2006/main">
            <a:off x="685800" y="100012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23D63"/>
                </a:solidFill>
                <a:latin typeface="Arial"/>
                <a:ea typeface="Arial"/>
                <a:cs typeface="Arial"/>
              </a:defRPr>
            </a:defPPr>
            <a:lvl1pPr>
              <a:defRPr sz="3450" b="1">
                <a:solidFill>
                  <a:srgbClr val="123D63"/>
                </a:solidFill>
                <a:latin typeface="Arial"/>
                <a:ea typeface="Arial"/>
                <a:cs typeface="Arial"/>
              </a:defRPr>
            </a:lvl1pPr>
            <a:lvl2pPr>
              <a:defRPr sz="3450" b="1">
                <a:solidFill>
                  <a:srgbClr val="123D63"/>
                </a:solidFill>
                <a:latin typeface="Arial"/>
                <a:ea typeface="Arial"/>
                <a:cs typeface="Arial"/>
              </a:defRPr>
            </a:lvl2pPr>
            <a:lvl3pPr>
              <a:defRPr sz="3450" b="1">
                <a:solidFill>
                  <a:srgbClr val="123D63"/>
                </a:solidFill>
                <a:latin typeface="Arial"/>
                <a:ea typeface="Arial"/>
                <a:cs typeface="Arial"/>
              </a:defRPr>
            </a:lvl3pPr>
            <a:lvl4pPr>
              <a:defRPr sz="3450" b="1">
                <a:solidFill>
                  <a:srgbClr val="123D63"/>
                </a:solidFill>
                <a:latin typeface="Arial"/>
                <a:ea typeface="Arial"/>
                <a:cs typeface="Arial"/>
              </a:defRPr>
            </a:lvl4pPr>
            <a:lvl5pPr>
              <a:defRPr sz="3450" b="1">
                <a:solidFill>
                  <a:srgbClr val="123D63"/>
                </a:solidFill>
                <a:latin typeface="Arial"/>
                <a:ea typeface="Arial"/>
                <a:cs typeface="Arial"/>
              </a:defRPr>
            </a:lvl5pPr>
            <a:lvl6pPr>
              <a:defRPr sz="3450" b="1">
                <a:solidFill>
                  <a:srgbClr val="123D63"/>
                </a:solidFill>
                <a:latin typeface="Arial"/>
                <a:ea typeface="Arial"/>
                <a:cs typeface="Arial"/>
              </a:defRPr>
            </a:lvl6pPr>
            <a:lvl7pPr>
              <a:defRPr sz="3450" b="1">
                <a:solidFill>
                  <a:srgbClr val="123D63"/>
                </a:solidFill>
                <a:latin typeface="Arial"/>
                <a:ea typeface="Arial"/>
                <a:cs typeface="Arial"/>
              </a:defRPr>
            </a:lvl7pPr>
            <a:lvl8pPr>
              <a:defRPr sz="3450" b="1">
                <a:solidFill>
                  <a:srgbClr val="123D63"/>
                </a:solidFill>
                <a:latin typeface="Arial"/>
                <a:ea typeface="Arial"/>
                <a:cs typeface="Arial"/>
              </a:defRPr>
            </a:lvl8pPr>
            <a:lvl9pPr>
              <a:defRPr sz="3450" b="1">
                <a:solidFill>
                  <a:srgbClr val="123D63"/>
                </a:solidFill>
                <a:latin typeface="Arial"/>
                <a:ea typeface="Arial"/>
                <a:cs typeface="Arial"/>
              </a:defRPr>
            </a:lvl9pPr>
          </a:lstStyle>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Tra cước tự động giúp giảm</a:t>
            </a:r>
          </a:p>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thao tác thủ công</a:t>
            </a:r>
          </a:p>
        </p:txBody>
      </p:sp>
      <p:sp>
        <p:nvSpPr>
          <p:cNvPr id="3" name="page">
            <a:extLst xmlns:a="http://schemas.openxmlformats.org/drawingml/2006/main">
              <a:ext uri="{FF2B5EF4-FFF2-40B4-BE49-F238E27FC236}">
                <a16:creationId xmlns:a16="http://schemas.microsoft.com/office/drawing/2014/main" id="{3E0CA35A-B20B-444F-BF98-64BDCB90EB01}"/>
              </a:ext>
            </a:extLst>
          </p:cNvPr>
          <p:cNvSpPr>
            <a:spLocks xmlns:a="http://schemas.openxmlformats.org/drawingml/2006/main" noGrp="1"/>
          </p:cNvSpPr>
          <p:nvPr/>
        </p:nvSpPr>
        <p:spPr>
          <a:xfrm xmlns:a="http://schemas.openxmlformats.org/drawingml/2006/main">
            <a:off x="10953750" y="62769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667786"/>
                </a:solidFill>
                <a:latin typeface="Arial"/>
                <a:ea typeface="Arial"/>
                <a:cs typeface="Arial"/>
              </a:defRPr>
            </a:defPPr>
            <a:lvl1pPr>
              <a:defRPr sz="1350" b="0">
                <a:solidFill>
                  <a:srgbClr val="667786"/>
                </a:solidFill>
                <a:latin typeface="Arial"/>
                <a:ea typeface="Arial"/>
                <a:cs typeface="Arial"/>
              </a:defRPr>
            </a:lvl1pPr>
            <a:lvl2pPr>
              <a:defRPr sz="1350" b="0">
                <a:solidFill>
                  <a:srgbClr val="667786"/>
                </a:solidFill>
                <a:latin typeface="Arial"/>
                <a:ea typeface="Arial"/>
                <a:cs typeface="Arial"/>
              </a:defRPr>
            </a:lvl2pPr>
            <a:lvl3pPr>
              <a:defRPr sz="1350" b="0">
                <a:solidFill>
                  <a:srgbClr val="667786"/>
                </a:solidFill>
                <a:latin typeface="Arial"/>
                <a:ea typeface="Arial"/>
                <a:cs typeface="Arial"/>
              </a:defRPr>
            </a:lvl3pPr>
            <a:lvl4pPr>
              <a:defRPr sz="1350" b="0">
                <a:solidFill>
                  <a:srgbClr val="667786"/>
                </a:solidFill>
                <a:latin typeface="Arial"/>
                <a:ea typeface="Arial"/>
                <a:cs typeface="Arial"/>
              </a:defRPr>
            </a:lvl4pPr>
            <a:lvl5pPr>
              <a:defRPr sz="1350" b="0">
                <a:solidFill>
                  <a:srgbClr val="667786"/>
                </a:solidFill>
                <a:latin typeface="Arial"/>
                <a:ea typeface="Arial"/>
                <a:cs typeface="Arial"/>
              </a:defRPr>
            </a:lvl5pPr>
            <a:lvl6pPr>
              <a:defRPr sz="1350" b="0">
                <a:solidFill>
                  <a:srgbClr val="667786"/>
                </a:solidFill>
                <a:latin typeface="Arial"/>
                <a:ea typeface="Arial"/>
                <a:cs typeface="Arial"/>
              </a:defRPr>
            </a:lvl6pPr>
            <a:lvl7pPr>
              <a:defRPr sz="1350" b="0">
                <a:solidFill>
                  <a:srgbClr val="667786"/>
                </a:solidFill>
                <a:latin typeface="Arial"/>
                <a:ea typeface="Arial"/>
                <a:cs typeface="Arial"/>
              </a:defRPr>
            </a:lvl7pPr>
            <a:lvl8pPr>
              <a:defRPr sz="1350" b="0">
                <a:solidFill>
                  <a:srgbClr val="667786"/>
                </a:solidFill>
                <a:latin typeface="Arial"/>
                <a:ea typeface="Arial"/>
                <a:cs typeface="Arial"/>
              </a:defRPr>
            </a:lvl8pPr>
            <a:lvl9pPr>
              <a:defRPr sz="1350" b="0">
                <a:solidFill>
                  <a:srgbClr val="667786"/>
                </a:solidFill>
                <a:latin typeface="Arial"/>
                <a:ea typeface="Arial"/>
                <a:cs typeface="Arial"/>
              </a:defRPr>
            </a:lvl9pPr>
          </a:lstStyle>
          <a:p xmlns:a="http://schemas.openxmlformats.org/drawingml/2006/main">
            <a:pPr>
              <a:defRPr sz="1350" b="0">
                <a:solidFill>
                  <a:srgbClr val="667786"/>
                </a:solidFill>
                <a:latin typeface="Arial"/>
                <a:ea typeface="Arial"/>
                <a:cs typeface="Arial"/>
              </a:defRPr>
            </a:pPr>
            <a:r>
              <a:rPr sz="1350" b="0">
                <a:solidFill>
                  <a:srgbClr val="667786"/>
                </a:solidFill>
                <a:latin typeface="Arial"/>
                <a:ea typeface="Arial"/>
                <a:cs typeface="Arial"/>
              </a:rPr>
              <a:t>01</a:t>
            </a:r>
          </a:p>
        </p:txBody>
      </p:sp>
      <p:sp>
        <p:nvSpPr>
          <p:cNvPr id="4" name="main-points">
            <a:extLst xmlns:a="http://schemas.openxmlformats.org/drawingml/2006/main">
              <a:ext uri="{FF2B5EF4-FFF2-40B4-BE49-F238E27FC236}">
                <a16:creationId xmlns:a16="http://schemas.microsoft.com/office/drawing/2014/main" id="{7C2E7533-A54C-4E8F-A6AB-73AF41FE19BC}"/>
              </a:ext>
            </a:extLst>
          </p:cNvPr>
          <p:cNvSpPr>
            <a:spLocks xmlns:a="http://schemas.openxmlformats.org/drawingml/2006/main" noGrp="1"/>
          </p:cNvSpPr>
          <p:nvPr/>
        </p:nvSpPr>
        <p:spPr>
          <a:xfrm xmlns:a="http://schemas.openxmlformats.org/drawingml/2006/main">
            <a:off x="685800" y="2667000"/>
            <a:ext cx="10382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233444"/>
                </a:solidFill>
                <a:latin typeface="Arial"/>
                <a:ea typeface="Arial"/>
                <a:cs typeface="Arial"/>
              </a:defRPr>
            </a:defPPr>
            <a:lvl1pPr>
              <a:defRPr sz="2550" b="0">
                <a:solidFill>
                  <a:srgbClr val="233444"/>
                </a:solidFill>
                <a:latin typeface="Arial"/>
                <a:ea typeface="Arial"/>
                <a:cs typeface="Arial"/>
              </a:defRPr>
            </a:lvl1pPr>
            <a:lvl2pPr>
              <a:defRPr sz="2550" b="0">
                <a:solidFill>
                  <a:srgbClr val="233444"/>
                </a:solidFill>
                <a:latin typeface="Arial"/>
                <a:ea typeface="Arial"/>
                <a:cs typeface="Arial"/>
              </a:defRPr>
            </a:lvl2pPr>
            <a:lvl3pPr>
              <a:defRPr sz="2550" b="0">
                <a:solidFill>
                  <a:srgbClr val="233444"/>
                </a:solidFill>
                <a:latin typeface="Arial"/>
                <a:ea typeface="Arial"/>
                <a:cs typeface="Arial"/>
              </a:defRPr>
            </a:lvl3pPr>
            <a:lvl4pPr>
              <a:defRPr sz="2550" b="0">
                <a:solidFill>
                  <a:srgbClr val="233444"/>
                </a:solidFill>
                <a:latin typeface="Arial"/>
                <a:ea typeface="Arial"/>
                <a:cs typeface="Arial"/>
              </a:defRPr>
            </a:lvl4pPr>
            <a:lvl5pPr>
              <a:defRPr sz="2550" b="0">
                <a:solidFill>
                  <a:srgbClr val="233444"/>
                </a:solidFill>
                <a:latin typeface="Arial"/>
                <a:ea typeface="Arial"/>
                <a:cs typeface="Arial"/>
              </a:defRPr>
            </a:lvl5pPr>
            <a:lvl6pPr>
              <a:defRPr sz="2550" b="0">
                <a:solidFill>
                  <a:srgbClr val="233444"/>
                </a:solidFill>
                <a:latin typeface="Arial"/>
                <a:ea typeface="Arial"/>
                <a:cs typeface="Arial"/>
              </a:defRPr>
            </a:lvl6pPr>
            <a:lvl7pPr>
              <a:defRPr sz="2550" b="0">
                <a:solidFill>
                  <a:srgbClr val="233444"/>
                </a:solidFill>
                <a:latin typeface="Arial"/>
                <a:ea typeface="Arial"/>
                <a:cs typeface="Arial"/>
              </a:defRPr>
            </a:lvl7pPr>
            <a:lvl8pPr>
              <a:defRPr sz="2550" b="0">
                <a:solidFill>
                  <a:srgbClr val="233444"/>
                </a:solidFill>
                <a:latin typeface="Arial"/>
                <a:ea typeface="Arial"/>
                <a:cs typeface="Arial"/>
              </a:defRPr>
            </a:lvl8pPr>
            <a:lvl9pPr>
              <a:defRPr sz="2550" b="0">
                <a:solidFill>
                  <a:srgbClr val="233444"/>
                </a:solidFill>
                <a:latin typeface="Arial"/>
                <a:ea typeface="Arial"/>
                <a:cs typeface="Arial"/>
              </a:defRPr>
            </a:lvl9pPr>
          </a:lstStyle>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Kho quét mã và tra giá từ một bảng cước chung.</a:t>
            </a:r>
          </a:p>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Excel dùng VLOOKUP để điền giá cho 500 dòng.</a:t>
            </a:r>
          </a:p>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Mã có lỗi hiện cảnh báo để kho xử lý trước bàn giao.</a:t>
            </a:r>
          </a:p>
        </p:txBody>
      </p:sp>
      <p:sp>
        <p:nvSpPr>
          <p:cNvPr id="5" name="context">
            <a:extLst xmlns:a="http://schemas.openxmlformats.org/drawingml/2006/main">
              <a:ext uri="{FF2B5EF4-FFF2-40B4-BE49-F238E27FC236}">
                <a16:creationId xmlns:a16="http://schemas.microsoft.com/office/drawing/2014/main" id="{8326F64C-414E-4035-A286-B12A51549053}"/>
              </a:ext>
            </a:extLst>
          </p:cNvPr>
          <p:cNvSpPr>
            <a:spLocks xmlns:a="http://schemas.openxmlformats.org/drawingml/2006/main" noGrp="1"/>
          </p:cNvSpPr>
          <p:nvPr/>
        </p:nvSpPr>
        <p:spPr>
          <a:xfrm xmlns:a="http://schemas.openxmlformats.org/drawingml/2006/main">
            <a:off x="685800" y="584835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667786"/>
                </a:solidFill>
                <a:latin typeface="Arial"/>
                <a:ea typeface="Arial"/>
                <a:cs typeface="Arial"/>
              </a:defRPr>
            </a:defPPr>
            <a:lvl1pPr>
              <a:defRPr sz="1575" b="0">
                <a:solidFill>
                  <a:srgbClr val="667786"/>
                </a:solidFill>
                <a:latin typeface="Arial"/>
                <a:ea typeface="Arial"/>
                <a:cs typeface="Arial"/>
              </a:defRPr>
            </a:lvl1pPr>
            <a:lvl2pPr>
              <a:defRPr sz="1575" b="0">
                <a:solidFill>
                  <a:srgbClr val="667786"/>
                </a:solidFill>
                <a:latin typeface="Arial"/>
                <a:ea typeface="Arial"/>
                <a:cs typeface="Arial"/>
              </a:defRPr>
            </a:lvl2pPr>
            <a:lvl3pPr>
              <a:defRPr sz="1575" b="0">
                <a:solidFill>
                  <a:srgbClr val="667786"/>
                </a:solidFill>
                <a:latin typeface="Arial"/>
                <a:ea typeface="Arial"/>
                <a:cs typeface="Arial"/>
              </a:defRPr>
            </a:lvl3pPr>
            <a:lvl4pPr>
              <a:defRPr sz="1575" b="0">
                <a:solidFill>
                  <a:srgbClr val="667786"/>
                </a:solidFill>
                <a:latin typeface="Arial"/>
                <a:ea typeface="Arial"/>
                <a:cs typeface="Arial"/>
              </a:defRPr>
            </a:lvl4pPr>
            <a:lvl5pPr>
              <a:defRPr sz="1575" b="0">
                <a:solidFill>
                  <a:srgbClr val="667786"/>
                </a:solidFill>
                <a:latin typeface="Arial"/>
                <a:ea typeface="Arial"/>
                <a:cs typeface="Arial"/>
              </a:defRPr>
            </a:lvl5pPr>
            <a:lvl6pPr>
              <a:defRPr sz="1575" b="0">
                <a:solidFill>
                  <a:srgbClr val="667786"/>
                </a:solidFill>
                <a:latin typeface="Arial"/>
                <a:ea typeface="Arial"/>
                <a:cs typeface="Arial"/>
              </a:defRPr>
            </a:lvl6pPr>
            <a:lvl7pPr>
              <a:defRPr sz="1575" b="0">
                <a:solidFill>
                  <a:srgbClr val="667786"/>
                </a:solidFill>
                <a:latin typeface="Arial"/>
                <a:ea typeface="Arial"/>
                <a:cs typeface="Arial"/>
              </a:defRPr>
            </a:lvl7pPr>
            <a:lvl8pPr>
              <a:defRPr sz="1575" b="0">
                <a:solidFill>
                  <a:srgbClr val="667786"/>
                </a:solidFill>
                <a:latin typeface="Arial"/>
                <a:ea typeface="Arial"/>
                <a:cs typeface="Arial"/>
              </a:defRPr>
            </a:lvl8pPr>
            <a:lvl9pPr>
              <a:defRPr sz="1575" b="0">
                <a:solidFill>
                  <a:srgbClr val="667786"/>
                </a:solidFill>
                <a:latin typeface="Arial"/>
                <a:ea typeface="Arial"/>
                <a:cs typeface="Arial"/>
              </a:defRPr>
            </a:lvl9pPr>
          </a:lstStyle>
          <a:p xmlns:a="http://schemas.openxmlformats.org/drawingml/2006/main">
            <a:pPr>
              <a:defRPr sz="1575" b="0">
                <a:solidFill>
                  <a:srgbClr val="667786"/>
                </a:solidFill>
                <a:latin typeface="Arial"/>
                <a:ea typeface="Arial"/>
                <a:cs typeface="Arial"/>
              </a:defRPr>
            </a:pPr>
            <a:r>
              <a:rPr sz="1575" b="0">
                <a:solidFill>
                  <a:srgbClr val="667786"/>
                </a:solidFill>
                <a:latin typeface="Arial"/>
                <a:ea typeface="Arial"/>
                <a:cs typeface="Arial"/>
              </a:rPr>
              <a:t>Bối cảnh đề bài: tra cứu thủ công gây chậm trễ 16 giờ mỗi ngày</a:t>
            </a:r>
          </a:p>
        </p:txBody>
      </p:sp>
    </p:spTree>
    <p:extLst>
      <p:ext uri="{BB962C8B-B14F-4D97-AF65-F5344CB8AC3E}">
        <p14:creationId xmlns:p14="http://schemas.microsoft.com/office/powerpoint/2010/main" val="5205740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4AC9657B-BD9D-4AF8-8428-7F0E1A605C97}"/>
              </a:ext>
            </a:extLst>
          </p:cNvPr>
          <p:cNvSpPr>
            <a:spLocks xmlns:a="http://schemas.openxmlformats.org/drawingml/2006/main" noGrp="1"/>
          </p:cNvSpPr>
          <p:nvPr/>
        </p:nvSpPr>
        <p:spPr>
          <a:xfrm xmlns:a="http://schemas.openxmlformats.org/drawingml/2006/main">
            <a:off x="685800" y="3619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1">
                <a:solidFill>
                  <a:srgbClr val="123D63"/>
                </a:solidFill>
                <a:latin typeface="Arial"/>
                <a:ea typeface="Arial"/>
                <a:cs typeface="Arial"/>
              </a:defRPr>
            </a:defPPr>
            <a:lvl1pPr>
              <a:defRPr sz="1650" b="1">
                <a:solidFill>
                  <a:srgbClr val="123D63"/>
                </a:solidFill>
                <a:latin typeface="Arial"/>
                <a:ea typeface="Arial"/>
                <a:cs typeface="Arial"/>
              </a:defRPr>
            </a:lvl1pPr>
            <a:lvl2pPr>
              <a:defRPr sz="1650" b="1">
                <a:solidFill>
                  <a:srgbClr val="123D63"/>
                </a:solidFill>
                <a:latin typeface="Arial"/>
                <a:ea typeface="Arial"/>
                <a:cs typeface="Arial"/>
              </a:defRPr>
            </a:lvl2pPr>
            <a:lvl3pPr>
              <a:defRPr sz="1650" b="1">
                <a:solidFill>
                  <a:srgbClr val="123D63"/>
                </a:solidFill>
                <a:latin typeface="Arial"/>
                <a:ea typeface="Arial"/>
                <a:cs typeface="Arial"/>
              </a:defRPr>
            </a:lvl3pPr>
            <a:lvl4pPr>
              <a:defRPr sz="1650" b="1">
                <a:solidFill>
                  <a:srgbClr val="123D63"/>
                </a:solidFill>
                <a:latin typeface="Arial"/>
                <a:ea typeface="Arial"/>
                <a:cs typeface="Arial"/>
              </a:defRPr>
            </a:lvl4pPr>
            <a:lvl5pPr>
              <a:defRPr sz="1650" b="1">
                <a:solidFill>
                  <a:srgbClr val="123D63"/>
                </a:solidFill>
                <a:latin typeface="Arial"/>
                <a:ea typeface="Arial"/>
                <a:cs typeface="Arial"/>
              </a:defRPr>
            </a:lvl5pPr>
            <a:lvl6pPr>
              <a:defRPr sz="1650" b="1">
                <a:solidFill>
                  <a:srgbClr val="123D63"/>
                </a:solidFill>
                <a:latin typeface="Arial"/>
                <a:ea typeface="Arial"/>
                <a:cs typeface="Arial"/>
              </a:defRPr>
            </a:lvl6pPr>
            <a:lvl7pPr>
              <a:defRPr sz="1650" b="1">
                <a:solidFill>
                  <a:srgbClr val="123D63"/>
                </a:solidFill>
                <a:latin typeface="Arial"/>
                <a:ea typeface="Arial"/>
                <a:cs typeface="Arial"/>
              </a:defRPr>
            </a:lvl7pPr>
            <a:lvl8pPr>
              <a:defRPr sz="1650" b="1">
                <a:solidFill>
                  <a:srgbClr val="123D63"/>
                </a:solidFill>
                <a:latin typeface="Arial"/>
                <a:ea typeface="Arial"/>
                <a:cs typeface="Arial"/>
              </a:defRPr>
            </a:lvl8pPr>
            <a:lvl9pPr>
              <a:defRPr sz="1650" b="1">
                <a:solidFill>
                  <a:srgbClr val="123D63"/>
                </a:solidFill>
                <a:latin typeface="Arial"/>
                <a:ea typeface="Arial"/>
                <a:cs typeface="Arial"/>
              </a:defRPr>
            </a:lvl9pPr>
          </a:lstStyle>
          <a:p xmlns:a="http://schemas.openxmlformats.org/drawingml/2006/main">
            <a:pPr>
              <a:defRPr sz="1650" b="1">
                <a:solidFill>
                  <a:srgbClr val="123D63"/>
                </a:solidFill>
                <a:latin typeface="Arial"/>
                <a:ea typeface="Arial"/>
                <a:cs typeface="Arial"/>
              </a:defRPr>
            </a:pPr>
            <a:r>
              <a:rPr sz="1650" b="1">
                <a:solidFill>
                  <a:srgbClr val="123D63"/>
                </a:solidFill>
                <a:latin typeface="Arial"/>
                <a:ea typeface="Arial"/>
                <a:cs typeface="Arial"/>
              </a:rPr>
              <a:t>FastMove</a:t>
            </a:r>
          </a:p>
        </p:txBody>
      </p:sp>
      <p:sp>
        <p:nvSpPr>
          <p:cNvPr id="2" name="title">
            <a:extLst xmlns:a="http://schemas.openxmlformats.org/drawingml/2006/main">
              <a:ext uri="{FF2B5EF4-FFF2-40B4-BE49-F238E27FC236}">
                <a16:creationId xmlns:a16="http://schemas.microsoft.com/office/drawing/2014/main" id="{6F2F4BB7-266A-4C5A-8A76-ECCBA1E5E4A8}"/>
              </a:ext>
            </a:extLst>
          </p:cNvPr>
          <p:cNvSpPr>
            <a:spLocks xmlns:a="http://schemas.openxmlformats.org/drawingml/2006/main" noGrp="1"/>
          </p:cNvSpPr>
          <p:nvPr/>
        </p:nvSpPr>
        <p:spPr>
          <a:xfrm xmlns:a="http://schemas.openxmlformats.org/drawingml/2006/main">
            <a:off x="685800" y="100012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23D63"/>
                </a:solidFill>
                <a:latin typeface="Arial"/>
                <a:ea typeface="Arial"/>
                <a:cs typeface="Arial"/>
              </a:defRPr>
            </a:defPPr>
            <a:lvl1pPr>
              <a:defRPr sz="3450" b="1">
                <a:solidFill>
                  <a:srgbClr val="123D63"/>
                </a:solidFill>
                <a:latin typeface="Arial"/>
                <a:ea typeface="Arial"/>
                <a:cs typeface="Arial"/>
              </a:defRPr>
            </a:lvl1pPr>
            <a:lvl2pPr>
              <a:defRPr sz="3450" b="1">
                <a:solidFill>
                  <a:srgbClr val="123D63"/>
                </a:solidFill>
                <a:latin typeface="Arial"/>
                <a:ea typeface="Arial"/>
                <a:cs typeface="Arial"/>
              </a:defRPr>
            </a:lvl2pPr>
            <a:lvl3pPr>
              <a:defRPr sz="3450" b="1">
                <a:solidFill>
                  <a:srgbClr val="123D63"/>
                </a:solidFill>
                <a:latin typeface="Arial"/>
                <a:ea typeface="Arial"/>
                <a:cs typeface="Arial"/>
              </a:defRPr>
            </a:lvl3pPr>
            <a:lvl4pPr>
              <a:defRPr sz="3450" b="1">
                <a:solidFill>
                  <a:srgbClr val="123D63"/>
                </a:solidFill>
                <a:latin typeface="Arial"/>
                <a:ea typeface="Arial"/>
                <a:cs typeface="Arial"/>
              </a:defRPr>
            </a:lvl4pPr>
            <a:lvl5pPr>
              <a:defRPr sz="3450" b="1">
                <a:solidFill>
                  <a:srgbClr val="123D63"/>
                </a:solidFill>
                <a:latin typeface="Arial"/>
                <a:ea typeface="Arial"/>
                <a:cs typeface="Arial"/>
              </a:defRPr>
            </a:lvl5pPr>
            <a:lvl6pPr>
              <a:defRPr sz="3450" b="1">
                <a:solidFill>
                  <a:srgbClr val="123D63"/>
                </a:solidFill>
                <a:latin typeface="Arial"/>
                <a:ea typeface="Arial"/>
                <a:cs typeface="Arial"/>
              </a:defRPr>
            </a:lvl6pPr>
            <a:lvl7pPr>
              <a:defRPr sz="3450" b="1">
                <a:solidFill>
                  <a:srgbClr val="123D63"/>
                </a:solidFill>
                <a:latin typeface="Arial"/>
                <a:ea typeface="Arial"/>
                <a:cs typeface="Arial"/>
              </a:defRPr>
            </a:lvl7pPr>
            <a:lvl8pPr>
              <a:defRPr sz="3450" b="1">
                <a:solidFill>
                  <a:srgbClr val="123D63"/>
                </a:solidFill>
                <a:latin typeface="Arial"/>
                <a:ea typeface="Arial"/>
                <a:cs typeface="Arial"/>
              </a:defRPr>
            </a:lvl8pPr>
            <a:lvl9pPr>
              <a:defRPr sz="3450" b="1">
                <a:solidFill>
                  <a:srgbClr val="123D63"/>
                </a:solidFill>
                <a:latin typeface="Arial"/>
                <a:ea typeface="Arial"/>
                <a:cs typeface="Arial"/>
              </a:defRPr>
            </a:lvl9pPr>
          </a:lstStyle>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Shipper nhận đơn qua</a:t>
            </a:r>
          </a:p>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4 bước kiểm tra</a:t>
            </a:r>
          </a:p>
        </p:txBody>
      </p:sp>
      <p:sp>
        <p:nvSpPr>
          <p:cNvPr id="3" name="page">
            <a:extLst xmlns:a="http://schemas.openxmlformats.org/drawingml/2006/main">
              <a:ext uri="{FF2B5EF4-FFF2-40B4-BE49-F238E27FC236}">
                <a16:creationId xmlns:a16="http://schemas.microsoft.com/office/drawing/2014/main" id="{9F39D16F-D0C9-4187-B696-A9B89AE4C5C5}"/>
              </a:ext>
            </a:extLst>
          </p:cNvPr>
          <p:cNvSpPr>
            <a:spLocks xmlns:a="http://schemas.openxmlformats.org/drawingml/2006/main" noGrp="1"/>
          </p:cNvSpPr>
          <p:nvPr/>
        </p:nvSpPr>
        <p:spPr>
          <a:xfrm xmlns:a="http://schemas.openxmlformats.org/drawingml/2006/main">
            <a:off x="10953750" y="62769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667786"/>
                </a:solidFill>
                <a:latin typeface="Arial"/>
                <a:ea typeface="Arial"/>
                <a:cs typeface="Arial"/>
              </a:defRPr>
            </a:defPPr>
            <a:lvl1pPr>
              <a:defRPr sz="1350" b="0">
                <a:solidFill>
                  <a:srgbClr val="667786"/>
                </a:solidFill>
                <a:latin typeface="Arial"/>
                <a:ea typeface="Arial"/>
                <a:cs typeface="Arial"/>
              </a:defRPr>
            </a:lvl1pPr>
            <a:lvl2pPr>
              <a:defRPr sz="1350" b="0">
                <a:solidFill>
                  <a:srgbClr val="667786"/>
                </a:solidFill>
                <a:latin typeface="Arial"/>
                <a:ea typeface="Arial"/>
                <a:cs typeface="Arial"/>
              </a:defRPr>
            </a:lvl2pPr>
            <a:lvl3pPr>
              <a:defRPr sz="1350" b="0">
                <a:solidFill>
                  <a:srgbClr val="667786"/>
                </a:solidFill>
                <a:latin typeface="Arial"/>
                <a:ea typeface="Arial"/>
                <a:cs typeface="Arial"/>
              </a:defRPr>
            </a:lvl3pPr>
            <a:lvl4pPr>
              <a:defRPr sz="1350" b="0">
                <a:solidFill>
                  <a:srgbClr val="667786"/>
                </a:solidFill>
                <a:latin typeface="Arial"/>
                <a:ea typeface="Arial"/>
                <a:cs typeface="Arial"/>
              </a:defRPr>
            </a:lvl4pPr>
            <a:lvl5pPr>
              <a:defRPr sz="1350" b="0">
                <a:solidFill>
                  <a:srgbClr val="667786"/>
                </a:solidFill>
                <a:latin typeface="Arial"/>
                <a:ea typeface="Arial"/>
                <a:cs typeface="Arial"/>
              </a:defRPr>
            </a:lvl5pPr>
            <a:lvl6pPr>
              <a:defRPr sz="1350" b="0">
                <a:solidFill>
                  <a:srgbClr val="667786"/>
                </a:solidFill>
                <a:latin typeface="Arial"/>
                <a:ea typeface="Arial"/>
                <a:cs typeface="Arial"/>
              </a:defRPr>
            </a:lvl6pPr>
            <a:lvl7pPr>
              <a:defRPr sz="1350" b="0">
                <a:solidFill>
                  <a:srgbClr val="667786"/>
                </a:solidFill>
                <a:latin typeface="Arial"/>
                <a:ea typeface="Arial"/>
                <a:cs typeface="Arial"/>
              </a:defRPr>
            </a:lvl7pPr>
            <a:lvl8pPr>
              <a:defRPr sz="1350" b="0">
                <a:solidFill>
                  <a:srgbClr val="667786"/>
                </a:solidFill>
                <a:latin typeface="Arial"/>
                <a:ea typeface="Arial"/>
                <a:cs typeface="Arial"/>
              </a:defRPr>
            </a:lvl8pPr>
            <a:lvl9pPr>
              <a:defRPr sz="1350" b="0">
                <a:solidFill>
                  <a:srgbClr val="667786"/>
                </a:solidFill>
                <a:latin typeface="Arial"/>
                <a:ea typeface="Arial"/>
                <a:cs typeface="Arial"/>
              </a:defRPr>
            </a:lvl9pPr>
          </a:lstStyle>
          <a:p xmlns:a="http://schemas.openxmlformats.org/drawingml/2006/main">
            <a:pPr>
              <a:defRPr sz="1350" b="0">
                <a:solidFill>
                  <a:srgbClr val="667786"/>
                </a:solidFill>
                <a:latin typeface="Arial"/>
                <a:ea typeface="Arial"/>
                <a:cs typeface="Arial"/>
              </a:defRPr>
            </a:pPr>
            <a:r>
              <a:rPr sz="1350" b="0">
                <a:solidFill>
                  <a:srgbClr val="667786"/>
                </a:solidFill>
                <a:latin typeface="Arial"/>
                <a:ea typeface="Arial"/>
                <a:cs typeface="Arial"/>
              </a:rPr>
              <a:t>02</a:t>
            </a:r>
          </a:p>
        </p:txBody>
      </p:sp>
      <p:sp>
        <p:nvSpPr>
          <p:cNvPr id="4" name="main-points">
            <a:extLst xmlns:a="http://schemas.openxmlformats.org/drawingml/2006/main">
              <a:ext uri="{FF2B5EF4-FFF2-40B4-BE49-F238E27FC236}">
                <a16:creationId xmlns:a16="http://schemas.microsoft.com/office/drawing/2014/main" id="{46B4630B-CD83-42AE-874C-F6F8E8FCEBEE}"/>
              </a:ext>
            </a:extLst>
          </p:cNvPr>
          <p:cNvSpPr>
            <a:spLocks xmlns:a="http://schemas.openxmlformats.org/drawingml/2006/main" noGrp="1"/>
          </p:cNvSpPr>
          <p:nvPr/>
        </p:nvSpPr>
        <p:spPr>
          <a:xfrm xmlns:a="http://schemas.openxmlformats.org/drawingml/2006/main">
            <a:off x="685800" y="2571750"/>
            <a:ext cx="105727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233444"/>
                </a:solidFill>
                <a:latin typeface="Arial"/>
                <a:ea typeface="Arial"/>
                <a:cs typeface="Arial"/>
              </a:defRPr>
            </a:defPPr>
            <a:lvl1pPr>
              <a:defRPr sz="2550" b="0">
                <a:solidFill>
                  <a:srgbClr val="233444"/>
                </a:solidFill>
                <a:latin typeface="Arial"/>
                <a:ea typeface="Arial"/>
                <a:cs typeface="Arial"/>
              </a:defRPr>
            </a:lvl1pPr>
            <a:lvl2pPr>
              <a:defRPr sz="2550" b="0">
                <a:solidFill>
                  <a:srgbClr val="233444"/>
                </a:solidFill>
                <a:latin typeface="Arial"/>
                <a:ea typeface="Arial"/>
                <a:cs typeface="Arial"/>
              </a:defRPr>
            </a:lvl2pPr>
            <a:lvl3pPr>
              <a:defRPr sz="2550" b="0">
                <a:solidFill>
                  <a:srgbClr val="233444"/>
                </a:solidFill>
                <a:latin typeface="Arial"/>
                <a:ea typeface="Arial"/>
                <a:cs typeface="Arial"/>
              </a:defRPr>
            </a:lvl3pPr>
            <a:lvl4pPr>
              <a:defRPr sz="2550" b="0">
                <a:solidFill>
                  <a:srgbClr val="233444"/>
                </a:solidFill>
                <a:latin typeface="Arial"/>
                <a:ea typeface="Arial"/>
                <a:cs typeface="Arial"/>
              </a:defRPr>
            </a:lvl4pPr>
            <a:lvl5pPr>
              <a:defRPr sz="2550" b="0">
                <a:solidFill>
                  <a:srgbClr val="233444"/>
                </a:solidFill>
                <a:latin typeface="Arial"/>
                <a:ea typeface="Arial"/>
                <a:cs typeface="Arial"/>
              </a:defRPr>
            </a:lvl5pPr>
            <a:lvl6pPr>
              <a:defRPr sz="2550" b="0">
                <a:solidFill>
                  <a:srgbClr val="233444"/>
                </a:solidFill>
                <a:latin typeface="Arial"/>
                <a:ea typeface="Arial"/>
                <a:cs typeface="Arial"/>
              </a:defRPr>
            </a:lvl6pPr>
            <a:lvl7pPr>
              <a:defRPr sz="2550" b="0">
                <a:solidFill>
                  <a:srgbClr val="233444"/>
                </a:solidFill>
                <a:latin typeface="Arial"/>
                <a:ea typeface="Arial"/>
                <a:cs typeface="Arial"/>
              </a:defRPr>
            </a:lvl7pPr>
            <a:lvl8pPr>
              <a:defRPr sz="2550" b="0">
                <a:solidFill>
                  <a:srgbClr val="233444"/>
                </a:solidFill>
                <a:latin typeface="Arial"/>
                <a:ea typeface="Arial"/>
                <a:cs typeface="Arial"/>
              </a:defRPr>
            </a:lvl8pPr>
            <a:lvl9pPr>
              <a:defRPr sz="2550" b="0">
                <a:solidFill>
                  <a:srgbClr val="233444"/>
                </a:solidFill>
                <a:latin typeface="Arial"/>
                <a:ea typeface="Arial"/>
                <a:cs typeface="Arial"/>
              </a:defRPr>
            </a:lvl9pPr>
          </a:lstStyle>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Quét mã vận đơn và mở đúng đơn trên ứng dụng.</a:t>
            </a:r>
          </a:p>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Đối chiếu người nhận, tuyến, cước và tiền cần thu.</a:t>
            </a:r>
          </a:p>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Kiểm đếm số kiện và kiểm tra niêm phong.</a:t>
            </a:r>
          </a:p>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Xác nhận bàn giao, báo ngay khi có sai lệch.</a:t>
            </a:r>
          </a:p>
        </p:txBody>
      </p:sp>
    </p:spTree>
    <p:extLst>
      <p:ext uri="{BB962C8B-B14F-4D97-AF65-F5344CB8AC3E}">
        <p14:creationId xmlns:p14="http://schemas.microsoft.com/office/powerpoint/2010/main" val="15165915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3B34E0AB-A1A2-4EBF-89AF-234B633FDA3A}"/>
              </a:ext>
            </a:extLst>
          </p:cNvPr>
          <p:cNvSpPr>
            <a:spLocks xmlns:a="http://schemas.openxmlformats.org/drawingml/2006/main" noGrp="1"/>
          </p:cNvSpPr>
          <p:nvPr/>
        </p:nvSpPr>
        <p:spPr>
          <a:xfrm xmlns:a="http://schemas.openxmlformats.org/drawingml/2006/main">
            <a:off x="685800" y="3619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1">
                <a:solidFill>
                  <a:srgbClr val="123D63"/>
                </a:solidFill>
                <a:latin typeface="Arial"/>
                <a:ea typeface="Arial"/>
                <a:cs typeface="Arial"/>
              </a:defRPr>
            </a:defPPr>
            <a:lvl1pPr>
              <a:defRPr sz="1650" b="1">
                <a:solidFill>
                  <a:srgbClr val="123D63"/>
                </a:solidFill>
                <a:latin typeface="Arial"/>
                <a:ea typeface="Arial"/>
                <a:cs typeface="Arial"/>
              </a:defRPr>
            </a:lvl1pPr>
            <a:lvl2pPr>
              <a:defRPr sz="1650" b="1">
                <a:solidFill>
                  <a:srgbClr val="123D63"/>
                </a:solidFill>
                <a:latin typeface="Arial"/>
                <a:ea typeface="Arial"/>
                <a:cs typeface="Arial"/>
              </a:defRPr>
            </a:lvl2pPr>
            <a:lvl3pPr>
              <a:defRPr sz="1650" b="1">
                <a:solidFill>
                  <a:srgbClr val="123D63"/>
                </a:solidFill>
                <a:latin typeface="Arial"/>
                <a:ea typeface="Arial"/>
                <a:cs typeface="Arial"/>
              </a:defRPr>
            </a:lvl3pPr>
            <a:lvl4pPr>
              <a:defRPr sz="1650" b="1">
                <a:solidFill>
                  <a:srgbClr val="123D63"/>
                </a:solidFill>
                <a:latin typeface="Arial"/>
                <a:ea typeface="Arial"/>
                <a:cs typeface="Arial"/>
              </a:defRPr>
            </a:lvl4pPr>
            <a:lvl5pPr>
              <a:defRPr sz="1650" b="1">
                <a:solidFill>
                  <a:srgbClr val="123D63"/>
                </a:solidFill>
                <a:latin typeface="Arial"/>
                <a:ea typeface="Arial"/>
                <a:cs typeface="Arial"/>
              </a:defRPr>
            </a:lvl5pPr>
            <a:lvl6pPr>
              <a:defRPr sz="1650" b="1">
                <a:solidFill>
                  <a:srgbClr val="123D63"/>
                </a:solidFill>
                <a:latin typeface="Arial"/>
                <a:ea typeface="Arial"/>
                <a:cs typeface="Arial"/>
              </a:defRPr>
            </a:lvl6pPr>
            <a:lvl7pPr>
              <a:defRPr sz="1650" b="1">
                <a:solidFill>
                  <a:srgbClr val="123D63"/>
                </a:solidFill>
                <a:latin typeface="Arial"/>
                <a:ea typeface="Arial"/>
                <a:cs typeface="Arial"/>
              </a:defRPr>
            </a:lvl7pPr>
            <a:lvl8pPr>
              <a:defRPr sz="1650" b="1">
                <a:solidFill>
                  <a:srgbClr val="123D63"/>
                </a:solidFill>
                <a:latin typeface="Arial"/>
                <a:ea typeface="Arial"/>
                <a:cs typeface="Arial"/>
              </a:defRPr>
            </a:lvl8pPr>
            <a:lvl9pPr>
              <a:defRPr sz="1650" b="1">
                <a:solidFill>
                  <a:srgbClr val="123D63"/>
                </a:solidFill>
                <a:latin typeface="Arial"/>
                <a:ea typeface="Arial"/>
                <a:cs typeface="Arial"/>
              </a:defRPr>
            </a:lvl9pPr>
          </a:lstStyle>
          <a:p xmlns:a="http://schemas.openxmlformats.org/drawingml/2006/main">
            <a:pPr>
              <a:defRPr sz="1650" b="1">
                <a:solidFill>
                  <a:srgbClr val="123D63"/>
                </a:solidFill>
                <a:latin typeface="Arial"/>
                <a:ea typeface="Arial"/>
                <a:cs typeface="Arial"/>
              </a:defRPr>
            </a:pPr>
            <a:r>
              <a:rPr sz="1650" b="1">
                <a:solidFill>
                  <a:srgbClr val="123D63"/>
                </a:solidFill>
                <a:latin typeface="Arial"/>
                <a:ea typeface="Arial"/>
                <a:cs typeface="Arial"/>
              </a:rPr>
              <a:t>FastMove</a:t>
            </a:r>
          </a:p>
        </p:txBody>
      </p:sp>
      <p:sp>
        <p:nvSpPr>
          <p:cNvPr id="2" name="title">
            <a:extLst xmlns:a="http://schemas.openxmlformats.org/drawingml/2006/main">
              <a:ext uri="{FF2B5EF4-FFF2-40B4-BE49-F238E27FC236}">
                <a16:creationId xmlns:a16="http://schemas.microsoft.com/office/drawing/2014/main" id="{8B55ED77-A7A5-4734-848D-1A883BC5CB5C}"/>
              </a:ext>
            </a:extLst>
          </p:cNvPr>
          <p:cNvSpPr>
            <a:spLocks xmlns:a="http://schemas.openxmlformats.org/drawingml/2006/main" noGrp="1"/>
          </p:cNvSpPr>
          <p:nvPr/>
        </p:nvSpPr>
        <p:spPr>
          <a:xfrm xmlns:a="http://schemas.openxmlformats.org/drawingml/2006/main">
            <a:off x="685800" y="100012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23D63"/>
                </a:solidFill>
                <a:latin typeface="Arial"/>
                <a:ea typeface="Arial"/>
                <a:cs typeface="Arial"/>
              </a:defRPr>
            </a:defPPr>
            <a:lvl1pPr>
              <a:defRPr sz="3450" b="1">
                <a:solidFill>
                  <a:srgbClr val="123D63"/>
                </a:solidFill>
                <a:latin typeface="Arial"/>
                <a:ea typeface="Arial"/>
                <a:cs typeface="Arial"/>
              </a:defRPr>
            </a:lvl1pPr>
            <a:lvl2pPr>
              <a:defRPr sz="3450" b="1">
                <a:solidFill>
                  <a:srgbClr val="123D63"/>
                </a:solidFill>
                <a:latin typeface="Arial"/>
                <a:ea typeface="Arial"/>
                <a:cs typeface="Arial"/>
              </a:defRPr>
            </a:lvl2pPr>
            <a:lvl3pPr>
              <a:defRPr sz="3450" b="1">
                <a:solidFill>
                  <a:srgbClr val="123D63"/>
                </a:solidFill>
                <a:latin typeface="Arial"/>
                <a:ea typeface="Arial"/>
                <a:cs typeface="Arial"/>
              </a:defRPr>
            </a:lvl3pPr>
            <a:lvl4pPr>
              <a:defRPr sz="3450" b="1">
                <a:solidFill>
                  <a:srgbClr val="123D63"/>
                </a:solidFill>
                <a:latin typeface="Arial"/>
                <a:ea typeface="Arial"/>
                <a:cs typeface="Arial"/>
              </a:defRPr>
            </a:lvl4pPr>
            <a:lvl5pPr>
              <a:defRPr sz="3450" b="1">
                <a:solidFill>
                  <a:srgbClr val="123D63"/>
                </a:solidFill>
                <a:latin typeface="Arial"/>
                <a:ea typeface="Arial"/>
                <a:cs typeface="Arial"/>
              </a:defRPr>
            </a:lvl5pPr>
            <a:lvl6pPr>
              <a:defRPr sz="3450" b="1">
                <a:solidFill>
                  <a:srgbClr val="123D63"/>
                </a:solidFill>
                <a:latin typeface="Arial"/>
                <a:ea typeface="Arial"/>
                <a:cs typeface="Arial"/>
              </a:defRPr>
            </a:lvl6pPr>
            <a:lvl7pPr>
              <a:defRPr sz="3450" b="1">
                <a:solidFill>
                  <a:srgbClr val="123D63"/>
                </a:solidFill>
                <a:latin typeface="Arial"/>
                <a:ea typeface="Arial"/>
                <a:cs typeface="Arial"/>
              </a:defRPr>
            </a:lvl7pPr>
            <a:lvl8pPr>
              <a:defRPr sz="3450" b="1">
                <a:solidFill>
                  <a:srgbClr val="123D63"/>
                </a:solidFill>
                <a:latin typeface="Arial"/>
                <a:ea typeface="Arial"/>
                <a:cs typeface="Arial"/>
              </a:defRPr>
            </a:lvl8pPr>
            <a:lvl9pPr>
              <a:defRPr sz="3450" b="1">
                <a:solidFill>
                  <a:srgbClr val="123D63"/>
                </a:solidFill>
                <a:latin typeface="Arial"/>
                <a:ea typeface="Arial"/>
                <a:cs typeface="Arial"/>
              </a:defRPr>
            </a:lvl9pPr>
          </a:lstStyle>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Vùng xa chỉ đạt 80%</a:t>
            </a:r>
          </a:p>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giao đúng hẹn</a:t>
            </a:r>
          </a:p>
        </p:txBody>
      </p:sp>
      <p:sp>
        <p:nvSpPr>
          <p:cNvPr id="3" name="page">
            <a:extLst xmlns:a="http://schemas.openxmlformats.org/drawingml/2006/main">
              <a:ext uri="{FF2B5EF4-FFF2-40B4-BE49-F238E27FC236}">
                <a16:creationId xmlns:a16="http://schemas.microsoft.com/office/drawing/2014/main" id="{E389E595-3B2E-40B6-BC58-EB06F3E35181}"/>
              </a:ext>
            </a:extLst>
          </p:cNvPr>
          <p:cNvSpPr>
            <a:spLocks xmlns:a="http://schemas.openxmlformats.org/drawingml/2006/main" noGrp="1"/>
          </p:cNvSpPr>
          <p:nvPr/>
        </p:nvSpPr>
        <p:spPr>
          <a:xfrm xmlns:a="http://schemas.openxmlformats.org/drawingml/2006/main">
            <a:off x="10953750" y="62769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667786"/>
                </a:solidFill>
                <a:latin typeface="Arial"/>
                <a:ea typeface="Arial"/>
                <a:cs typeface="Arial"/>
              </a:defRPr>
            </a:defPPr>
            <a:lvl1pPr>
              <a:defRPr sz="1350" b="0">
                <a:solidFill>
                  <a:srgbClr val="667786"/>
                </a:solidFill>
                <a:latin typeface="Arial"/>
                <a:ea typeface="Arial"/>
                <a:cs typeface="Arial"/>
              </a:defRPr>
            </a:lvl1pPr>
            <a:lvl2pPr>
              <a:defRPr sz="1350" b="0">
                <a:solidFill>
                  <a:srgbClr val="667786"/>
                </a:solidFill>
                <a:latin typeface="Arial"/>
                <a:ea typeface="Arial"/>
                <a:cs typeface="Arial"/>
              </a:defRPr>
            </a:lvl2pPr>
            <a:lvl3pPr>
              <a:defRPr sz="1350" b="0">
                <a:solidFill>
                  <a:srgbClr val="667786"/>
                </a:solidFill>
                <a:latin typeface="Arial"/>
                <a:ea typeface="Arial"/>
                <a:cs typeface="Arial"/>
              </a:defRPr>
            </a:lvl3pPr>
            <a:lvl4pPr>
              <a:defRPr sz="1350" b="0">
                <a:solidFill>
                  <a:srgbClr val="667786"/>
                </a:solidFill>
                <a:latin typeface="Arial"/>
                <a:ea typeface="Arial"/>
                <a:cs typeface="Arial"/>
              </a:defRPr>
            </a:lvl4pPr>
            <a:lvl5pPr>
              <a:defRPr sz="1350" b="0">
                <a:solidFill>
                  <a:srgbClr val="667786"/>
                </a:solidFill>
                <a:latin typeface="Arial"/>
                <a:ea typeface="Arial"/>
                <a:cs typeface="Arial"/>
              </a:defRPr>
            </a:lvl5pPr>
            <a:lvl6pPr>
              <a:defRPr sz="1350" b="0">
                <a:solidFill>
                  <a:srgbClr val="667786"/>
                </a:solidFill>
                <a:latin typeface="Arial"/>
                <a:ea typeface="Arial"/>
                <a:cs typeface="Arial"/>
              </a:defRPr>
            </a:lvl6pPr>
            <a:lvl7pPr>
              <a:defRPr sz="1350" b="0">
                <a:solidFill>
                  <a:srgbClr val="667786"/>
                </a:solidFill>
                <a:latin typeface="Arial"/>
                <a:ea typeface="Arial"/>
                <a:cs typeface="Arial"/>
              </a:defRPr>
            </a:lvl7pPr>
            <a:lvl8pPr>
              <a:defRPr sz="1350" b="0">
                <a:solidFill>
                  <a:srgbClr val="667786"/>
                </a:solidFill>
                <a:latin typeface="Arial"/>
                <a:ea typeface="Arial"/>
                <a:cs typeface="Arial"/>
              </a:defRPr>
            </a:lvl8pPr>
            <a:lvl9pPr>
              <a:defRPr sz="1350" b="0">
                <a:solidFill>
                  <a:srgbClr val="667786"/>
                </a:solidFill>
                <a:latin typeface="Arial"/>
                <a:ea typeface="Arial"/>
                <a:cs typeface="Arial"/>
              </a:defRPr>
            </a:lvl9pPr>
          </a:lstStyle>
          <a:p xmlns:a="http://schemas.openxmlformats.org/drawingml/2006/main">
            <a:pPr>
              <a:defRPr sz="1350" b="0">
                <a:solidFill>
                  <a:srgbClr val="667786"/>
                </a:solidFill>
                <a:latin typeface="Arial"/>
                <a:ea typeface="Arial"/>
                <a:cs typeface="Arial"/>
              </a:defRPr>
            </a:pPr>
            <a:r>
              <a:rPr sz="1350" b="0">
                <a:solidFill>
                  <a:srgbClr val="667786"/>
                </a:solidFill>
                <a:latin typeface="Arial"/>
                <a:ea typeface="Arial"/>
                <a:cs typeface="Arial"/>
              </a:rPr>
              <a:t>03</a:t>
            </a:r>
          </a:p>
        </p:txBody>
      </p:sp>
      <p:graphicFrame>
        <p:nvGraphicFramePr>
          <p:cNvPr id="4" name="Chart">
            <a:extLst xmlns:a="http://schemas.openxmlformats.org/drawingml/2006/main">
              <a:ext uri="{FF2B5EF4-FFF2-40B4-BE49-F238E27FC236}">
                <a16:creationId xmlns:a16="http://schemas.microsoft.com/office/drawing/2014/main" id="{9814288B-46DD-478F-A0AD-85A7383C9A19}"/>
              </a:ext>
            </a:extLst>
          </p:cNvPr>
          <p:cNvGraphicFramePr/>
          <p:nvPr/>
        </p:nvGraphicFramePr>
        <p:xfrm>
          <a:off xmlns:a="http://schemas.openxmlformats.org/drawingml/2006/main" x="571500" y="2400300"/>
          <a:ext xmlns:a="http://schemas.openxmlformats.org/drawingml/2006/main" cx="7524750" cy="3476625"/>
        </p:xfrm>
        <a:graphic xmlns:a="http://schemas.openxmlformats.org/drawingml/2006/main">
          <a:graphicData uri="http://schemas.openxmlformats.org/drawingml/2006/chart">
            <c:chart xmlns:r="http://schemas.openxmlformats.org/officeDocument/2006/relationships" xmlns:c="http://schemas.openxmlformats.org/drawingml/2006/chart" r:id="Rbfb10d3e78844552"/>
          </a:graphicData>
        </a:graphic>
      </p:graphicFrame>
      <p:sp>
        <p:nvSpPr>
          <p:cNvPr id="5" name="late-number">
            <a:extLst xmlns:a="http://schemas.openxmlformats.org/drawingml/2006/main">
              <a:ext uri="{FF2B5EF4-FFF2-40B4-BE49-F238E27FC236}">
                <a16:creationId xmlns:a16="http://schemas.microsoft.com/office/drawing/2014/main" id="{03377B0D-34E1-4FFC-9E38-71C557BC5670}"/>
              </a:ext>
            </a:extLst>
          </p:cNvPr>
          <p:cNvSpPr>
            <a:spLocks xmlns:a="http://schemas.openxmlformats.org/drawingml/2006/main" noGrp="1"/>
          </p:cNvSpPr>
          <p:nvPr/>
        </p:nvSpPr>
        <p:spPr>
          <a:xfrm xmlns:a="http://schemas.openxmlformats.org/drawingml/2006/main">
            <a:off x="8572500" y="2619375"/>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1">
                <a:solidFill>
                  <a:srgbClr val="E66B26"/>
                </a:solidFill>
                <a:latin typeface="Arial"/>
                <a:ea typeface="Arial"/>
                <a:cs typeface="Arial"/>
              </a:defRPr>
            </a:defPPr>
            <a:lvl1pPr>
              <a:defRPr sz="4500" b="1">
                <a:solidFill>
                  <a:srgbClr val="E66B26"/>
                </a:solidFill>
                <a:latin typeface="Arial"/>
                <a:ea typeface="Arial"/>
                <a:cs typeface="Arial"/>
              </a:defRPr>
            </a:lvl1pPr>
            <a:lvl2pPr>
              <a:defRPr sz="4500" b="1">
                <a:solidFill>
                  <a:srgbClr val="E66B26"/>
                </a:solidFill>
                <a:latin typeface="Arial"/>
                <a:ea typeface="Arial"/>
                <a:cs typeface="Arial"/>
              </a:defRPr>
            </a:lvl2pPr>
            <a:lvl3pPr>
              <a:defRPr sz="4500" b="1">
                <a:solidFill>
                  <a:srgbClr val="E66B26"/>
                </a:solidFill>
                <a:latin typeface="Arial"/>
                <a:ea typeface="Arial"/>
                <a:cs typeface="Arial"/>
              </a:defRPr>
            </a:lvl3pPr>
            <a:lvl4pPr>
              <a:defRPr sz="4500" b="1">
                <a:solidFill>
                  <a:srgbClr val="E66B26"/>
                </a:solidFill>
                <a:latin typeface="Arial"/>
                <a:ea typeface="Arial"/>
                <a:cs typeface="Arial"/>
              </a:defRPr>
            </a:lvl4pPr>
            <a:lvl5pPr>
              <a:defRPr sz="4500" b="1">
                <a:solidFill>
                  <a:srgbClr val="E66B26"/>
                </a:solidFill>
                <a:latin typeface="Arial"/>
                <a:ea typeface="Arial"/>
                <a:cs typeface="Arial"/>
              </a:defRPr>
            </a:lvl5pPr>
            <a:lvl6pPr>
              <a:defRPr sz="4500" b="1">
                <a:solidFill>
                  <a:srgbClr val="E66B26"/>
                </a:solidFill>
                <a:latin typeface="Arial"/>
                <a:ea typeface="Arial"/>
                <a:cs typeface="Arial"/>
              </a:defRPr>
            </a:lvl6pPr>
            <a:lvl7pPr>
              <a:defRPr sz="4500" b="1">
                <a:solidFill>
                  <a:srgbClr val="E66B26"/>
                </a:solidFill>
                <a:latin typeface="Arial"/>
                <a:ea typeface="Arial"/>
                <a:cs typeface="Arial"/>
              </a:defRPr>
            </a:lvl7pPr>
            <a:lvl8pPr>
              <a:defRPr sz="4500" b="1">
                <a:solidFill>
                  <a:srgbClr val="E66B26"/>
                </a:solidFill>
                <a:latin typeface="Arial"/>
                <a:ea typeface="Arial"/>
                <a:cs typeface="Arial"/>
              </a:defRPr>
            </a:lvl8pPr>
            <a:lvl9pPr>
              <a:defRPr sz="4500" b="1">
                <a:solidFill>
                  <a:srgbClr val="E66B26"/>
                </a:solidFill>
                <a:latin typeface="Arial"/>
                <a:ea typeface="Arial"/>
                <a:cs typeface="Arial"/>
              </a:defRPr>
            </a:lvl9pPr>
          </a:lstStyle>
          <a:p xmlns:a="http://schemas.openxmlformats.org/drawingml/2006/main">
            <a:pPr>
              <a:defRPr sz="4500" b="1">
                <a:solidFill>
                  <a:srgbClr val="E66B26"/>
                </a:solidFill>
                <a:latin typeface="Arial"/>
                <a:ea typeface="Arial"/>
                <a:cs typeface="Arial"/>
              </a:defRPr>
            </a:pPr>
            <a:r>
              <a:rPr sz="4500" b="1">
                <a:solidFill>
                  <a:srgbClr val="E66B26"/>
                </a:solidFill>
                <a:latin typeface="Arial"/>
                <a:ea typeface="Arial"/>
                <a:cs typeface="Arial"/>
              </a:rPr>
              <a:t>25 / 125</a:t>
            </a:r>
          </a:p>
        </p:txBody>
      </p:sp>
      <p:sp>
        <p:nvSpPr>
          <p:cNvPr id="6" name="late-label">
            <a:extLst xmlns:a="http://schemas.openxmlformats.org/drawingml/2006/main">
              <a:ext uri="{FF2B5EF4-FFF2-40B4-BE49-F238E27FC236}">
                <a16:creationId xmlns:a16="http://schemas.microsoft.com/office/drawing/2014/main" id="{2B5BEDBB-29F4-4672-8C5C-B921BA9AB85C}"/>
              </a:ext>
            </a:extLst>
          </p:cNvPr>
          <p:cNvSpPr>
            <a:spLocks xmlns:a="http://schemas.openxmlformats.org/drawingml/2006/main" noGrp="1"/>
          </p:cNvSpPr>
          <p:nvPr/>
        </p:nvSpPr>
        <p:spPr>
          <a:xfrm xmlns:a="http://schemas.openxmlformats.org/drawingml/2006/main">
            <a:off x="8572500" y="33909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33444"/>
                </a:solidFill>
                <a:latin typeface="Arial"/>
                <a:ea typeface="Arial"/>
                <a:cs typeface="Arial"/>
              </a:defRPr>
            </a:defPPr>
            <a:lvl1pPr>
              <a:defRPr sz="2100" b="0">
                <a:solidFill>
                  <a:srgbClr val="233444"/>
                </a:solidFill>
                <a:latin typeface="Arial"/>
                <a:ea typeface="Arial"/>
                <a:cs typeface="Arial"/>
              </a:defRPr>
            </a:lvl1pPr>
            <a:lvl2pPr>
              <a:defRPr sz="2100" b="0">
                <a:solidFill>
                  <a:srgbClr val="233444"/>
                </a:solidFill>
                <a:latin typeface="Arial"/>
                <a:ea typeface="Arial"/>
                <a:cs typeface="Arial"/>
              </a:defRPr>
            </a:lvl2pPr>
            <a:lvl3pPr>
              <a:defRPr sz="2100" b="0">
                <a:solidFill>
                  <a:srgbClr val="233444"/>
                </a:solidFill>
                <a:latin typeface="Arial"/>
                <a:ea typeface="Arial"/>
                <a:cs typeface="Arial"/>
              </a:defRPr>
            </a:lvl3pPr>
            <a:lvl4pPr>
              <a:defRPr sz="2100" b="0">
                <a:solidFill>
                  <a:srgbClr val="233444"/>
                </a:solidFill>
                <a:latin typeface="Arial"/>
                <a:ea typeface="Arial"/>
                <a:cs typeface="Arial"/>
              </a:defRPr>
            </a:lvl4pPr>
            <a:lvl5pPr>
              <a:defRPr sz="2100" b="0">
                <a:solidFill>
                  <a:srgbClr val="233444"/>
                </a:solidFill>
                <a:latin typeface="Arial"/>
                <a:ea typeface="Arial"/>
                <a:cs typeface="Arial"/>
              </a:defRPr>
            </a:lvl5pPr>
            <a:lvl6pPr>
              <a:defRPr sz="2100" b="0">
                <a:solidFill>
                  <a:srgbClr val="233444"/>
                </a:solidFill>
                <a:latin typeface="Arial"/>
                <a:ea typeface="Arial"/>
                <a:cs typeface="Arial"/>
              </a:defRPr>
            </a:lvl6pPr>
            <a:lvl7pPr>
              <a:defRPr sz="2100" b="0">
                <a:solidFill>
                  <a:srgbClr val="233444"/>
                </a:solidFill>
                <a:latin typeface="Arial"/>
                <a:ea typeface="Arial"/>
                <a:cs typeface="Arial"/>
              </a:defRPr>
            </a:lvl7pPr>
            <a:lvl8pPr>
              <a:defRPr sz="2100" b="0">
                <a:solidFill>
                  <a:srgbClr val="233444"/>
                </a:solidFill>
                <a:latin typeface="Arial"/>
                <a:ea typeface="Arial"/>
                <a:cs typeface="Arial"/>
              </a:defRPr>
            </a:lvl8pPr>
            <a:lvl9pPr>
              <a:defRPr sz="2100" b="0">
                <a:solidFill>
                  <a:srgbClr val="233444"/>
                </a:solidFill>
                <a:latin typeface="Arial"/>
                <a:ea typeface="Arial"/>
                <a:cs typeface="Arial"/>
              </a:defRPr>
            </a:lvl9pPr>
          </a:lstStyle>
          <a:p xmlns:a="http://schemas.openxmlformats.org/drawingml/2006/main">
            <a:pPr>
              <a:defRPr sz="2100" b="0">
                <a:solidFill>
                  <a:srgbClr val="233444"/>
                </a:solidFill>
                <a:latin typeface="Arial"/>
                <a:ea typeface="Arial"/>
                <a:cs typeface="Arial"/>
              </a:defRPr>
            </a:pPr>
            <a:r>
              <a:rPr sz="2100" b="0">
                <a:solidFill>
                  <a:srgbClr val="233444"/>
                </a:solidFill>
                <a:latin typeface="Arial"/>
                <a:ea typeface="Arial"/>
                <a:cs typeface="Arial"/>
              </a:rPr>
              <a:t>đơn vùng xa trễ hẹn</a:t>
            </a:r>
          </a:p>
        </p:txBody>
      </p:sp>
      <p:sp>
        <p:nvSpPr>
          <p:cNvPr id="7" name="target-gap">
            <a:extLst xmlns:a="http://schemas.openxmlformats.org/drawingml/2006/main">
              <a:ext uri="{FF2B5EF4-FFF2-40B4-BE49-F238E27FC236}">
                <a16:creationId xmlns:a16="http://schemas.microsoft.com/office/drawing/2014/main" id="{7C1CF098-4005-4E2D-898A-ABC2AE156E64}"/>
              </a:ext>
            </a:extLst>
          </p:cNvPr>
          <p:cNvSpPr>
            <a:spLocks xmlns:a="http://schemas.openxmlformats.org/drawingml/2006/main" noGrp="1"/>
          </p:cNvSpPr>
          <p:nvPr/>
        </p:nvSpPr>
        <p:spPr>
          <a:xfrm xmlns:a="http://schemas.openxmlformats.org/drawingml/2006/main">
            <a:off x="8572500" y="4448175"/>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33444"/>
                </a:solidFill>
                <a:latin typeface="Arial"/>
                <a:ea typeface="Arial"/>
                <a:cs typeface="Arial"/>
              </a:defRPr>
            </a:defPPr>
            <a:lvl1pPr>
              <a:defRPr sz="2025" b="0">
                <a:solidFill>
                  <a:srgbClr val="233444"/>
                </a:solidFill>
                <a:latin typeface="Arial"/>
                <a:ea typeface="Arial"/>
                <a:cs typeface="Arial"/>
              </a:defRPr>
            </a:lvl1pPr>
            <a:lvl2pPr>
              <a:defRPr sz="2025" b="0">
                <a:solidFill>
                  <a:srgbClr val="233444"/>
                </a:solidFill>
                <a:latin typeface="Arial"/>
                <a:ea typeface="Arial"/>
                <a:cs typeface="Arial"/>
              </a:defRPr>
            </a:lvl2pPr>
            <a:lvl3pPr>
              <a:defRPr sz="2025" b="0">
                <a:solidFill>
                  <a:srgbClr val="233444"/>
                </a:solidFill>
                <a:latin typeface="Arial"/>
                <a:ea typeface="Arial"/>
                <a:cs typeface="Arial"/>
              </a:defRPr>
            </a:lvl3pPr>
            <a:lvl4pPr>
              <a:defRPr sz="2025" b="0">
                <a:solidFill>
                  <a:srgbClr val="233444"/>
                </a:solidFill>
                <a:latin typeface="Arial"/>
                <a:ea typeface="Arial"/>
                <a:cs typeface="Arial"/>
              </a:defRPr>
            </a:lvl4pPr>
            <a:lvl5pPr>
              <a:defRPr sz="2025" b="0">
                <a:solidFill>
                  <a:srgbClr val="233444"/>
                </a:solidFill>
                <a:latin typeface="Arial"/>
                <a:ea typeface="Arial"/>
                <a:cs typeface="Arial"/>
              </a:defRPr>
            </a:lvl5pPr>
            <a:lvl6pPr>
              <a:defRPr sz="2025" b="0">
                <a:solidFill>
                  <a:srgbClr val="233444"/>
                </a:solidFill>
                <a:latin typeface="Arial"/>
                <a:ea typeface="Arial"/>
                <a:cs typeface="Arial"/>
              </a:defRPr>
            </a:lvl6pPr>
            <a:lvl7pPr>
              <a:defRPr sz="2025" b="0">
                <a:solidFill>
                  <a:srgbClr val="233444"/>
                </a:solidFill>
                <a:latin typeface="Arial"/>
                <a:ea typeface="Arial"/>
                <a:cs typeface="Arial"/>
              </a:defRPr>
            </a:lvl7pPr>
            <a:lvl8pPr>
              <a:defRPr sz="2025" b="0">
                <a:solidFill>
                  <a:srgbClr val="233444"/>
                </a:solidFill>
                <a:latin typeface="Arial"/>
                <a:ea typeface="Arial"/>
                <a:cs typeface="Arial"/>
              </a:defRPr>
            </a:lvl8pPr>
            <a:lvl9pPr>
              <a:defRPr sz="2025" b="0">
                <a:solidFill>
                  <a:srgbClr val="233444"/>
                </a:solidFill>
                <a:latin typeface="Arial"/>
                <a:ea typeface="Arial"/>
                <a:cs typeface="Arial"/>
              </a:defRPr>
            </a:lvl9pPr>
          </a:lstStyle>
          <a:p xmlns:a="http://schemas.openxmlformats.org/drawingml/2006/main">
            <a:pPr>
              <a:defRPr sz="2025" b="0">
                <a:solidFill>
                  <a:srgbClr val="233444"/>
                </a:solidFill>
                <a:latin typeface="Arial"/>
                <a:ea typeface="Arial"/>
                <a:cs typeface="Arial"/>
              </a:defRPr>
            </a:pPr>
            <a:r>
              <a:rPr sz="2025" b="0">
                <a:solidFill>
                  <a:srgbClr val="233444"/>
                </a:solidFill>
                <a:latin typeface="Arial"/>
                <a:ea typeface="Arial"/>
                <a:cs typeface="Arial"/>
              </a:rPr>
              <a:t>Thấp hơn mục tiêu 95%</a:t>
            </a:r>
          </a:p>
          <a:p xmlns:a="http://schemas.openxmlformats.org/drawingml/2006/main">
            <a:pPr>
              <a:defRPr sz="2025" b="0">
                <a:solidFill>
                  <a:srgbClr val="233444"/>
                </a:solidFill>
                <a:latin typeface="Arial"/>
                <a:ea typeface="Arial"/>
                <a:cs typeface="Arial"/>
              </a:defRPr>
            </a:pPr>
            <a:r>
              <a:rPr sz="2025" b="0">
                <a:solidFill>
                  <a:srgbClr val="233444"/>
                </a:solidFill>
                <a:latin typeface="Arial"/>
                <a:ea typeface="Arial"/>
                <a:cs typeface="Arial"/>
              </a:rPr>
              <a:t>15 điểm phần trăm</a:t>
            </a:r>
          </a:p>
        </p:txBody>
      </p:sp>
      <p:sp>
        <p:nvSpPr>
          <p:cNvPr id="8" name="source">
            <a:extLst xmlns:a="http://schemas.openxmlformats.org/drawingml/2006/main">
              <a:ext uri="{FF2B5EF4-FFF2-40B4-BE49-F238E27FC236}">
                <a16:creationId xmlns:a16="http://schemas.microsoft.com/office/drawing/2014/main" id="{620BD8DA-1292-40F9-AF1B-B1B174B57FDD}"/>
              </a:ext>
            </a:extLst>
          </p:cNvPr>
          <p:cNvSpPr>
            <a:spLocks xmlns:a="http://schemas.openxmlformats.org/drawingml/2006/main" noGrp="1"/>
          </p:cNvSpPr>
          <p:nvPr/>
        </p:nvSpPr>
        <p:spPr>
          <a:xfrm xmlns:a="http://schemas.openxmlformats.org/drawingml/2006/main">
            <a:off x="685800" y="6067425"/>
            <a:ext cx="1019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425" b="0">
                <a:solidFill>
                  <a:srgbClr val="667786"/>
                </a:solidFill>
                <a:latin typeface="Arial"/>
                <a:ea typeface="Arial"/>
                <a:cs typeface="Arial"/>
              </a:defRPr>
            </a:defPPr>
            <a:lvl1pPr>
              <a:defRPr sz="1425" b="0">
                <a:solidFill>
                  <a:srgbClr val="667786"/>
                </a:solidFill>
                <a:latin typeface="Arial"/>
                <a:ea typeface="Arial"/>
                <a:cs typeface="Arial"/>
              </a:defRPr>
            </a:lvl1pPr>
            <a:lvl2pPr>
              <a:defRPr sz="1425" b="0">
                <a:solidFill>
                  <a:srgbClr val="667786"/>
                </a:solidFill>
                <a:latin typeface="Arial"/>
                <a:ea typeface="Arial"/>
                <a:cs typeface="Arial"/>
              </a:defRPr>
            </a:lvl2pPr>
            <a:lvl3pPr>
              <a:defRPr sz="1425" b="0">
                <a:solidFill>
                  <a:srgbClr val="667786"/>
                </a:solidFill>
                <a:latin typeface="Arial"/>
                <a:ea typeface="Arial"/>
                <a:cs typeface="Arial"/>
              </a:defRPr>
            </a:lvl3pPr>
            <a:lvl4pPr>
              <a:defRPr sz="1425" b="0">
                <a:solidFill>
                  <a:srgbClr val="667786"/>
                </a:solidFill>
                <a:latin typeface="Arial"/>
                <a:ea typeface="Arial"/>
                <a:cs typeface="Arial"/>
              </a:defRPr>
            </a:lvl4pPr>
            <a:lvl5pPr>
              <a:defRPr sz="1425" b="0">
                <a:solidFill>
                  <a:srgbClr val="667786"/>
                </a:solidFill>
                <a:latin typeface="Arial"/>
                <a:ea typeface="Arial"/>
                <a:cs typeface="Arial"/>
              </a:defRPr>
            </a:lvl5pPr>
            <a:lvl6pPr>
              <a:defRPr sz="1425" b="0">
                <a:solidFill>
                  <a:srgbClr val="667786"/>
                </a:solidFill>
                <a:latin typeface="Arial"/>
                <a:ea typeface="Arial"/>
                <a:cs typeface="Arial"/>
              </a:defRPr>
            </a:lvl6pPr>
            <a:lvl7pPr>
              <a:defRPr sz="1425" b="0">
                <a:solidFill>
                  <a:srgbClr val="667786"/>
                </a:solidFill>
                <a:latin typeface="Arial"/>
                <a:ea typeface="Arial"/>
                <a:cs typeface="Arial"/>
              </a:defRPr>
            </a:lvl7pPr>
            <a:lvl8pPr>
              <a:defRPr sz="1425" b="0">
                <a:solidFill>
                  <a:srgbClr val="667786"/>
                </a:solidFill>
                <a:latin typeface="Arial"/>
                <a:ea typeface="Arial"/>
                <a:cs typeface="Arial"/>
              </a:defRPr>
            </a:lvl8pPr>
            <a:lvl9pPr>
              <a:defRPr sz="1425" b="0">
                <a:solidFill>
                  <a:srgbClr val="667786"/>
                </a:solidFill>
                <a:latin typeface="Arial"/>
                <a:ea typeface="Arial"/>
                <a:cs typeface="Arial"/>
              </a:defRPr>
            </a:lvl9pPr>
          </a:lstStyle>
          <a:p xmlns:a="http://schemas.openxmlformats.org/drawingml/2006/main">
            <a:pPr>
              <a:defRPr sz="1425" b="0">
                <a:solidFill>
                  <a:srgbClr val="667786"/>
                </a:solidFill>
                <a:latin typeface="Arial"/>
                <a:ea typeface="Arial"/>
                <a:cs typeface="Arial"/>
              </a:defRPr>
            </a:pPr>
            <a:r>
              <a:rPr sz="1425" b="0">
                <a:solidFill>
                  <a:srgbClr val="667786"/>
                </a:solidFill>
                <a:latin typeface="Arial"/>
                <a:ea typeface="Arial"/>
                <a:cs typeface="Arial"/>
              </a:rPr>
              <a:t>Dữ liệu minh họa từ Excel đi kèm. 500 đơn đã giao, 445 đơn đúng hẹn (89%).</a:t>
            </a:r>
          </a:p>
        </p:txBody>
      </p:sp>
    </p:spTree>
    <p:extLst>
      <p:ext uri="{BB962C8B-B14F-4D97-AF65-F5344CB8AC3E}">
        <p14:creationId xmlns:p14="http://schemas.microsoft.com/office/powerpoint/2010/main" val="817476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0DA8D2BE-7F97-4E6F-9A19-0EFD2ACE6B99}"/>
              </a:ext>
            </a:extLst>
          </p:cNvPr>
          <p:cNvSpPr>
            <a:spLocks xmlns:a="http://schemas.openxmlformats.org/drawingml/2006/main" noGrp="1"/>
          </p:cNvSpPr>
          <p:nvPr/>
        </p:nvSpPr>
        <p:spPr>
          <a:xfrm xmlns:a="http://schemas.openxmlformats.org/drawingml/2006/main">
            <a:off x="685800" y="3619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1">
                <a:solidFill>
                  <a:srgbClr val="123D63"/>
                </a:solidFill>
                <a:latin typeface="Arial"/>
                <a:ea typeface="Arial"/>
                <a:cs typeface="Arial"/>
              </a:defRPr>
            </a:defPPr>
            <a:lvl1pPr>
              <a:defRPr sz="1650" b="1">
                <a:solidFill>
                  <a:srgbClr val="123D63"/>
                </a:solidFill>
                <a:latin typeface="Arial"/>
                <a:ea typeface="Arial"/>
                <a:cs typeface="Arial"/>
              </a:defRPr>
            </a:lvl1pPr>
            <a:lvl2pPr>
              <a:defRPr sz="1650" b="1">
                <a:solidFill>
                  <a:srgbClr val="123D63"/>
                </a:solidFill>
                <a:latin typeface="Arial"/>
                <a:ea typeface="Arial"/>
                <a:cs typeface="Arial"/>
              </a:defRPr>
            </a:lvl2pPr>
            <a:lvl3pPr>
              <a:defRPr sz="1650" b="1">
                <a:solidFill>
                  <a:srgbClr val="123D63"/>
                </a:solidFill>
                <a:latin typeface="Arial"/>
                <a:ea typeface="Arial"/>
                <a:cs typeface="Arial"/>
              </a:defRPr>
            </a:lvl3pPr>
            <a:lvl4pPr>
              <a:defRPr sz="1650" b="1">
                <a:solidFill>
                  <a:srgbClr val="123D63"/>
                </a:solidFill>
                <a:latin typeface="Arial"/>
                <a:ea typeface="Arial"/>
                <a:cs typeface="Arial"/>
              </a:defRPr>
            </a:lvl4pPr>
            <a:lvl5pPr>
              <a:defRPr sz="1650" b="1">
                <a:solidFill>
                  <a:srgbClr val="123D63"/>
                </a:solidFill>
                <a:latin typeface="Arial"/>
                <a:ea typeface="Arial"/>
                <a:cs typeface="Arial"/>
              </a:defRPr>
            </a:lvl5pPr>
            <a:lvl6pPr>
              <a:defRPr sz="1650" b="1">
                <a:solidFill>
                  <a:srgbClr val="123D63"/>
                </a:solidFill>
                <a:latin typeface="Arial"/>
                <a:ea typeface="Arial"/>
                <a:cs typeface="Arial"/>
              </a:defRPr>
            </a:lvl6pPr>
            <a:lvl7pPr>
              <a:defRPr sz="1650" b="1">
                <a:solidFill>
                  <a:srgbClr val="123D63"/>
                </a:solidFill>
                <a:latin typeface="Arial"/>
                <a:ea typeface="Arial"/>
                <a:cs typeface="Arial"/>
              </a:defRPr>
            </a:lvl7pPr>
            <a:lvl8pPr>
              <a:defRPr sz="1650" b="1">
                <a:solidFill>
                  <a:srgbClr val="123D63"/>
                </a:solidFill>
                <a:latin typeface="Arial"/>
                <a:ea typeface="Arial"/>
                <a:cs typeface="Arial"/>
              </a:defRPr>
            </a:lvl8pPr>
            <a:lvl9pPr>
              <a:defRPr sz="1650" b="1">
                <a:solidFill>
                  <a:srgbClr val="123D63"/>
                </a:solidFill>
                <a:latin typeface="Arial"/>
                <a:ea typeface="Arial"/>
                <a:cs typeface="Arial"/>
              </a:defRPr>
            </a:lvl9pPr>
          </a:lstStyle>
          <a:p xmlns:a="http://schemas.openxmlformats.org/drawingml/2006/main">
            <a:pPr>
              <a:defRPr sz="1650" b="1">
                <a:solidFill>
                  <a:srgbClr val="123D63"/>
                </a:solidFill>
                <a:latin typeface="Arial"/>
                <a:ea typeface="Arial"/>
                <a:cs typeface="Arial"/>
              </a:defRPr>
            </a:pPr>
            <a:r>
              <a:rPr sz="1650" b="1">
                <a:solidFill>
                  <a:srgbClr val="123D63"/>
                </a:solidFill>
                <a:latin typeface="Arial"/>
                <a:ea typeface="Arial"/>
                <a:cs typeface="Arial"/>
              </a:rPr>
              <a:t>FastMove</a:t>
            </a:r>
          </a:p>
        </p:txBody>
      </p:sp>
      <p:sp>
        <p:nvSpPr>
          <p:cNvPr id="2" name="title">
            <a:extLst xmlns:a="http://schemas.openxmlformats.org/drawingml/2006/main">
              <a:ext uri="{FF2B5EF4-FFF2-40B4-BE49-F238E27FC236}">
                <a16:creationId xmlns:a16="http://schemas.microsoft.com/office/drawing/2014/main" id="{B95CE5C3-BBDC-4B99-93BA-6B98BA0FB7DD}"/>
              </a:ext>
            </a:extLst>
          </p:cNvPr>
          <p:cNvSpPr>
            <a:spLocks xmlns:a="http://schemas.openxmlformats.org/drawingml/2006/main" noGrp="1"/>
          </p:cNvSpPr>
          <p:nvPr/>
        </p:nvSpPr>
        <p:spPr>
          <a:xfrm xmlns:a="http://schemas.openxmlformats.org/drawingml/2006/main">
            <a:off x="685800" y="100012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23D63"/>
                </a:solidFill>
                <a:latin typeface="Arial"/>
                <a:ea typeface="Arial"/>
                <a:cs typeface="Arial"/>
              </a:defRPr>
            </a:defPPr>
            <a:lvl1pPr>
              <a:defRPr sz="3450" b="1">
                <a:solidFill>
                  <a:srgbClr val="123D63"/>
                </a:solidFill>
                <a:latin typeface="Arial"/>
                <a:ea typeface="Arial"/>
                <a:cs typeface="Arial"/>
              </a:defRPr>
            </a:lvl1pPr>
            <a:lvl2pPr>
              <a:defRPr sz="3450" b="1">
                <a:solidFill>
                  <a:srgbClr val="123D63"/>
                </a:solidFill>
                <a:latin typeface="Arial"/>
                <a:ea typeface="Arial"/>
                <a:cs typeface="Arial"/>
              </a:defRPr>
            </a:lvl2pPr>
            <a:lvl3pPr>
              <a:defRPr sz="3450" b="1">
                <a:solidFill>
                  <a:srgbClr val="123D63"/>
                </a:solidFill>
                <a:latin typeface="Arial"/>
                <a:ea typeface="Arial"/>
                <a:cs typeface="Arial"/>
              </a:defRPr>
            </a:lvl3pPr>
            <a:lvl4pPr>
              <a:defRPr sz="3450" b="1">
                <a:solidFill>
                  <a:srgbClr val="123D63"/>
                </a:solidFill>
                <a:latin typeface="Arial"/>
                <a:ea typeface="Arial"/>
                <a:cs typeface="Arial"/>
              </a:defRPr>
            </a:lvl4pPr>
            <a:lvl5pPr>
              <a:defRPr sz="3450" b="1">
                <a:solidFill>
                  <a:srgbClr val="123D63"/>
                </a:solidFill>
                <a:latin typeface="Arial"/>
                <a:ea typeface="Arial"/>
                <a:cs typeface="Arial"/>
              </a:defRPr>
            </a:lvl5pPr>
            <a:lvl6pPr>
              <a:defRPr sz="3450" b="1">
                <a:solidFill>
                  <a:srgbClr val="123D63"/>
                </a:solidFill>
                <a:latin typeface="Arial"/>
                <a:ea typeface="Arial"/>
                <a:cs typeface="Arial"/>
              </a:defRPr>
            </a:lvl6pPr>
            <a:lvl7pPr>
              <a:defRPr sz="3450" b="1">
                <a:solidFill>
                  <a:srgbClr val="123D63"/>
                </a:solidFill>
                <a:latin typeface="Arial"/>
                <a:ea typeface="Arial"/>
                <a:cs typeface="Arial"/>
              </a:defRPr>
            </a:lvl7pPr>
            <a:lvl8pPr>
              <a:defRPr sz="3450" b="1">
                <a:solidFill>
                  <a:srgbClr val="123D63"/>
                </a:solidFill>
                <a:latin typeface="Arial"/>
                <a:ea typeface="Arial"/>
                <a:cs typeface="Arial"/>
              </a:defRPr>
            </a:lvl8pPr>
            <a:lvl9pPr>
              <a:defRPr sz="3450" b="1">
                <a:solidFill>
                  <a:srgbClr val="123D63"/>
                </a:solidFill>
                <a:latin typeface="Arial"/>
                <a:ea typeface="Arial"/>
                <a:cs typeface="Arial"/>
              </a:defRPr>
            </a:lvl9pPr>
          </a:lstStyle>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Lỗi mã cần được xử lý</a:t>
            </a:r>
          </a:p>
          <a:p xmlns:a="http://schemas.openxmlformats.org/drawingml/2006/main">
            <a:pPr>
              <a:defRPr sz="3450" b="1">
                <a:solidFill>
                  <a:srgbClr val="123D63"/>
                </a:solidFill>
                <a:latin typeface="Arial"/>
                <a:ea typeface="Arial"/>
                <a:cs typeface="Arial"/>
              </a:defRPr>
            </a:pPr>
            <a:r>
              <a:rPr sz="3450" b="1">
                <a:solidFill>
                  <a:srgbClr val="123D63"/>
                </a:solidFill>
                <a:latin typeface="Arial"/>
                <a:ea typeface="Arial"/>
                <a:cs typeface="Arial"/>
              </a:rPr>
              <a:t>trước khi bàn giao</a:t>
            </a:r>
          </a:p>
        </p:txBody>
      </p:sp>
      <p:sp>
        <p:nvSpPr>
          <p:cNvPr id="3" name="page">
            <a:extLst xmlns:a="http://schemas.openxmlformats.org/drawingml/2006/main">
              <a:ext uri="{FF2B5EF4-FFF2-40B4-BE49-F238E27FC236}">
                <a16:creationId xmlns:a16="http://schemas.microsoft.com/office/drawing/2014/main" id="{9F258583-4505-4873-BA87-EF11A4E528C8}"/>
              </a:ext>
            </a:extLst>
          </p:cNvPr>
          <p:cNvSpPr>
            <a:spLocks xmlns:a="http://schemas.openxmlformats.org/drawingml/2006/main" noGrp="1"/>
          </p:cNvSpPr>
          <p:nvPr/>
        </p:nvSpPr>
        <p:spPr>
          <a:xfrm xmlns:a="http://schemas.openxmlformats.org/drawingml/2006/main">
            <a:off x="10953750" y="62769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667786"/>
                </a:solidFill>
                <a:latin typeface="Arial"/>
                <a:ea typeface="Arial"/>
                <a:cs typeface="Arial"/>
              </a:defRPr>
            </a:defPPr>
            <a:lvl1pPr>
              <a:defRPr sz="1350" b="0">
                <a:solidFill>
                  <a:srgbClr val="667786"/>
                </a:solidFill>
                <a:latin typeface="Arial"/>
                <a:ea typeface="Arial"/>
                <a:cs typeface="Arial"/>
              </a:defRPr>
            </a:lvl1pPr>
            <a:lvl2pPr>
              <a:defRPr sz="1350" b="0">
                <a:solidFill>
                  <a:srgbClr val="667786"/>
                </a:solidFill>
                <a:latin typeface="Arial"/>
                <a:ea typeface="Arial"/>
                <a:cs typeface="Arial"/>
              </a:defRPr>
            </a:lvl2pPr>
            <a:lvl3pPr>
              <a:defRPr sz="1350" b="0">
                <a:solidFill>
                  <a:srgbClr val="667786"/>
                </a:solidFill>
                <a:latin typeface="Arial"/>
                <a:ea typeface="Arial"/>
                <a:cs typeface="Arial"/>
              </a:defRPr>
            </a:lvl3pPr>
            <a:lvl4pPr>
              <a:defRPr sz="1350" b="0">
                <a:solidFill>
                  <a:srgbClr val="667786"/>
                </a:solidFill>
                <a:latin typeface="Arial"/>
                <a:ea typeface="Arial"/>
                <a:cs typeface="Arial"/>
              </a:defRPr>
            </a:lvl4pPr>
            <a:lvl5pPr>
              <a:defRPr sz="1350" b="0">
                <a:solidFill>
                  <a:srgbClr val="667786"/>
                </a:solidFill>
                <a:latin typeface="Arial"/>
                <a:ea typeface="Arial"/>
                <a:cs typeface="Arial"/>
              </a:defRPr>
            </a:lvl5pPr>
            <a:lvl6pPr>
              <a:defRPr sz="1350" b="0">
                <a:solidFill>
                  <a:srgbClr val="667786"/>
                </a:solidFill>
                <a:latin typeface="Arial"/>
                <a:ea typeface="Arial"/>
                <a:cs typeface="Arial"/>
              </a:defRPr>
            </a:lvl6pPr>
            <a:lvl7pPr>
              <a:defRPr sz="1350" b="0">
                <a:solidFill>
                  <a:srgbClr val="667786"/>
                </a:solidFill>
                <a:latin typeface="Arial"/>
                <a:ea typeface="Arial"/>
                <a:cs typeface="Arial"/>
              </a:defRPr>
            </a:lvl7pPr>
            <a:lvl8pPr>
              <a:defRPr sz="1350" b="0">
                <a:solidFill>
                  <a:srgbClr val="667786"/>
                </a:solidFill>
                <a:latin typeface="Arial"/>
                <a:ea typeface="Arial"/>
                <a:cs typeface="Arial"/>
              </a:defRPr>
            </a:lvl8pPr>
            <a:lvl9pPr>
              <a:defRPr sz="1350" b="0">
                <a:solidFill>
                  <a:srgbClr val="667786"/>
                </a:solidFill>
                <a:latin typeface="Arial"/>
                <a:ea typeface="Arial"/>
                <a:cs typeface="Arial"/>
              </a:defRPr>
            </a:lvl9pPr>
          </a:lstStyle>
          <a:p xmlns:a="http://schemas.openxmlformats.org/drawingml/2006/main">
            <a:pPr>
              <a:defRPr sz="1350" b="0">
                <a:solidFill>
                  <a:srgbClr val="667786"/>
                </a:solidFill>
                <a:latin typeface="Arial"/>
                <a:ea typeface="Arial"/>
                <a:cs typeface="Arial"/>
              </a:defRPr>
            </a:pPr>
            <a:r>
              <a:rPr sz="1350" b="0">
                <a:solidFill>
                  <a:srgbClr val="667786"/>
                </a:solidFill>
                <a:latin typeface="Arial"/>
                <a:ea typeface="Arial"/>
                <a:cs typeface="Arial"/>
              </a:rPr>
              <a:t>04</a:t>
            </a:r>
          </a:p>
        </p:txBody>
      </p:sp>
      <p:sp>
        <p:nvSpPr>
          <p:cNvPr id="4" name="main-points">
            <a:extLst xmlns:a="http://schemas.openxmlformats.org/drawingml/2006/main">
              <a:ext uri="{FF2B5EF4-FFF2-40B4-BE49-F238E27FC236}">
                <a16:creationId xmlns:a16="http://schemas.microsoft.com/office/drawing/2014/main" id="{880BEF08-B1BB-4AE8-8817-4BBBB599D1FD}"/>
              </a:ext>
            </a:extLst>
          </p:cNvPr>
          <p:cNvSpPr>
            <a:spLocks xmlns:a="http://schemas.openxmlformats.org/drawingml/2006/main" noGrp="1"/>
          </p:cNvSpPr>
          <p:nvPr/>
        </p:nvSpPr>
        <p:spPr>
          <a:xfrm xmlns:a="http://schemas.openxmlformats.org/drawingml/2006/main">
            <a:off x="685800" y="2619375"/>
            <a:ext cx="10477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233444"/>
                </a:solidFill>
                <a:latin typeface="Arial"/>
                <a:ea typeface="Arial"/>
                <a:cs typeface="Arial"/>
              </a:defRPr>
            </a:defPPr>
            <a:lvl1pPr>
              <a:defRPr sz="2550" b="0">
                <a:solidFill>
                  <a:srgbClr val="233444"/>
                </a:solidFill>
                <a:latin typeface="Arial"/>
                <a:ea typeface="Arial"/>
                <a:cs typeface="Arial"/>
              </a:defRPr>
            </a:lvl1pPr>
            <a:lvl2pPr>
              <a:defRPr sz="2550" b="0">
                <a:solidFill>
                  <a:srgbClr val="233444"/>
                </a:solidFill>
                <a:latin typeface="Arial"/>
                <a:ea typeface="Arial"/>
                <a:cs typeface="Arial"/>
              </a:defRPr>
            </a:lvl2pPr>
            <a:lvl3pPr>
              <a:defRPr sz="2550" b="0">
                <a:solidFill>
                  <a:srgbClr val="233444"/>
                </a:solidFill>
                <a:latin typeface="Arial"/>
                <a:ea typeface="Arial"/>
                <a:cs typeface="Arial"/>
              </a:defRPr>
            </a:lvl3pPr>
            <a:lvl4pPr>
              <a:defRPr sz="2550" b="0">
                <a:solidFill>
                  <a:srgbClr val="233444"/>
                </a:solidFill>
                <a:latin typeface="Arial"/>
                <a:ea typeface="Arial"/>
                <a:cs typeface="Arial"/>
              </a:defRPr>
            </a:lvl4pPr>
            <a:lvl5pPr>
              <a:defRPr sz="2550" b="0">
                <a:solidFill>
                  <a:srgbClr val="233444"/>
                </a:solidFill>
                <a:latin typeface="Arial"/>
                <a:ea typeface="Arial"/>
                <a:cs typeface="Arial"/>
              </a:defRPr>
            </a:lvl5pPr>
            <a:lvl6pPr>
              <a:defRPr sz="2550" b="0">
                <a:solidFill>
                  <a:srgbClr val="233444"/>
                </a:solidFill>
                <a:latin typeface="Arial"/>
                <a:ea typeface="Arial"/>
                <a:cs typeface="Arial"/>
              </a:defRPr>
            </a:lvl6pPr>
            <a:lvl7pPr>
              <a:defRPr sz="2550" b="0">
                <a:solidFill>
                  <a:srgbClr val="233444"/>
                </a:solidFill>
                <a:latin typeface="Arial"/>
                <a:ea typeface="Arial"/>
                <a:cs typeface="Arial"/>
              </a:defRPr>
            </a:lvl7pPr>
            <a:lvl8pPr>
              <a:defRPr sz="2550" b="0">
                <a:solidFill>
                  <a:srgbClr val="233444"/>
                </a:solidFill>
                <a:latin typeface="Arial"/>
                <a:ea typeface="Arial"/>
                <a:cs typeface="Arial"/>
              </a:defRPr>
            </a:lvl8pPr>
            <a:lvl9pPr>
              <a:defRPr sz="2550" b="0">
                <a:solidFill>
                  <a:srgbClr val="233444"/>
                </a:solidFill>
                <a:latin typeface="Arial"/>
                <a:ea typeface="Arial"/>
                <a:cs typeface="Arial"/>
              </a:defRPr>
            </a:lvl9pPr>
          </a:lstStyle>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Làm sạch khoảng trắng và ký tự ẩn thông dụng trước khi tra.</a:t>
            </a:r>
          </a:p>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IFERROR đổi lỗi tra cứu thành “Cần kiểm tra mã”.</a:t>
            </a:r>
          </a:p>
          <a:p xmlns:a="http://schemas.openxmlformats.org/drawingml/2006/main">
            <a:pPr marL="292100" indent="-152400">
              <a:spcAft>
                <a:spcPts val="2100"/>
              </a:spcAft>
              <a:buChar char="•"/>
              <a:defRPr sz="2550" b="0">
                <a:solidFill>
                  <a:srgbClr val="233444"/>
                </a:solidFill>
                <a:latin typeface="Arial"/>
                <a:ea typeface="Arial"/>
                <a:cs typeface="Arial"/>
              </a:defRPr>
            </a:pPr>
            <a:r>
              <a:rPr sz="2550">
                <a:solidFill>
                  <a:srgbClr val="233444"/>
                </a:solidFill>
                <a:latin typeface="Arial"/>
                <a:ea typeface="Arial"/>
                <a:cs typeface="Arial"/>
              </a:rPr>
              <a:t>Mã chưa khớp được đối chiếu lại với hồ sơ gốc.</a:t>
            </a:r>
          </a:p>
        </p:txBody>
      </p:sp>
      <p:sp>
        <p:nvSpPr>
          <p:cNvPr id="5" name="limit">
            <a:extLst xmlns:a="http://schemas.openxmlformats.org/drawingml/2006/main">
              <a:ext uri="{FF2B5EF4-FFF2-40B4-BE49-F238E27FC236}">
                <a16:creationId xmlns:a16="http://schemas.microsoft.com/office/drawing/2014/main" id="{ECA9E0DC-A7FC-4B18-9398-D26A3E26D5D1}"/>
              </a:ext>
            </a:extLst>
          </p:cNvPr>
          <p:cNvSpPr>
            <a:spLocks xmlns:a="http://schemas.openxmlformats.org/drawingml/2006/main" noGrp="1"/>
          </p:cNvSpPr>
          <p:nvPr/>
        </p:nvSpPr>
        <p:spPr>
          <a:xfrm xmlns:a="http://schemas.openxmlformats.org/drawingml/2006/main">
            <a:off x="685800" y="58769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1">
                <a:solidFill>
                  <a:srgbClr val="E66B26"/>
                </a:solidFill>
                <a:latin typeface="Arial"/>
                <a:ea typeface="Arial"/>
                <a:cs typeface="Arial"/>
              </a:defRPr>
            </a:defPPr>
            <a:lvl1pPr>
              <a:defRPr sz="1725" b="1">
                <a:solidFill>
                  <a:srgbClr val="E66B26"/>
                </a:solidFill>
                <a:latin typeface="Arial"/>
                <a:ea typeface="Arial"/>
                <a:cs typeface="Arial"/>
              </a:defRPr>
            </a:lvl1pPr>
            <a:lvl2pPr>
              <a:defRPr sz="1725" b="1">
                <a:solidFill>
                  <a:srgbClr val="E66B26"/>
                </a:solidFill>
                <a:latin typeface="Arial"/>
                <a:ea typeface="Arial"/>
                <a:cs typeface="Arial"/>
              </a:defRPr>
            </a:lvl2pPr>
            <a:lvl3pPr>
              <a:defRPr sz="1725" b="1">
                <a:solidFill>
                  <a:srgbClr val="E66B26"/>
                </a:solidFill>
                <a:latin typeface="Arial"/>
                <a:ea typeface="Arial"/>
                <a:cs typeface="Arial"/>
              </a:defRPr>
            </a:lvl3pPr>
            <a:lvl4pPr>
              <a:defRPr sz="1725" b="1">
                <a:solidFill>
                  <a:srgbClr val="E66B26"/>
                </a:solidFill>
                <a:latin typeface="Arial"/>
                <a:ea typeface="Arial"/>
                <a:cs typeface="Arial"/>
              </a:defRPr>
            </a:lvl4pPr>
            <a:lvl5pPr>
              <a:defRPr sz="1725" b="1">
                <a:solidFill>
                  <a:srgbClr val="E66B26"/>
                </a:solidFill>
                <a:latin typeface="Arial"/>
                <a:ea typeface="Arial"/>
                <a:cs typeface="Arial"/>
              </a:defRPr>
            </a:lvl5pPr>
            <a:lvl6pPr>
              <a:defRPr sz="1725" b="1">
                <a:solidFill>
                  <a:srgbClr val="E66B26"/>
                </a:solidFill>
                <a:latin typeface="Arial"/>
                <a:ea typeface="Arial"/>
                <a:cs typeface="Arial"/>
              </a:defRPr>
            </a:lvl6pPr>
            <a:lvl7pPr>
              <a:defRPr sz="1725" b="1">
                <a:solidFill>
                  <a:srgbClr val="E66B26"/>
                </a:solidFill>
                <a:latin typeface="Arial"/>
                <a:ea typeface="Arial"/>
                <a:cs typeface="Arial"/>
              </a:defRPr>
            </a:lvl7pPr>
            <a:lvl8pPr>
              <a:defRPr sz="1725" b="1">
                <a:solidFill>
                  <a:srgbClr val="E66B26"/>
                </a:solidFill>
                <a:latin typeface="Arial"/>
                <a:ea typeface="Arial"/>
                <a:cs typeface="Arial"/>
              </a:defRPr>
            </a:lvl8pPr>
            <a:lvl9pPr>
              <a:defRPr sz="1725" b="1">
                <a:solidFill>
                  <a:srgbClr val="E66B26"/>
                </a:solidFill>
                <a:latin typeface="Arial"/>
                <a:ea typeface="Arial"/>
                <a:cs typeface="Arial"/>
              </a:defRPr>
            </a:lvl9pPr>
          </a:lstStyle>
          <a:p xmlns:a="http://schemas.openxmlformats.org/drawingml/2006/main">
            <a:pPr>
              <a:defRPr sz="1725" b="1">
                <a:solidFill>
                  <a:srgbClr val="E66B26"/>
                </a:solidFill>
                <a:latin typeface="Arial"/>
                <a:ea typeface="Arial"/>
                <a:cs typeface="Arial"/>
              </a:defRPr>
            </a:pPr>
            <a:r>
              <a:rPr sz="1725" b="1">
                <a:solidFill>
                  <a:srgbClr val="E66B26"/>
                </a:solidFill>
                <a:latin typeface="Arial"/>
                <a:ea typeface="Arial"/>
                <a:cs typeface="Arial"/>
              </a:rPr>
              <a:t>IFERROR chỉ xử lý thông báo lỗi. Kho cần xác minh và sửa đúng mã.</a:t>
            </a:r>
          </a:p>
        </p:txBody>
      </p:sp>
    </p:spTree>
    <p:extLst>
      <p:ext uri="{BB962C8B-B14F-4D97-AF65-F5344CB8AC3E}">
        <p14:creationId xmlns:p14="http://schemas.microsoft.com/office/powerpoint/2010/main" val="261856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2026-10-27T04:10:08.3320000Z</dcterms:created>
  <dcterms:modified xsi:type="dcterms:W3CDTF">2026-10-27T04:10:08.3320000Z</dcterms:modified>
</coreProperties>
</file>